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رابط الصور: https://example.com/image.png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رابط الصورة: https://example.com/tech.png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الإجابة الصحيحة: ب</a:t>
            </a:r>
          </a:p>
          <a:p>
            <a:r>
              <a:t>لأنها تقدّم طرقًا جديدة تؤثر في العمليات والنماذج القائمة.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عند النقر على كل بطاقة تظهر التفاصيل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الإجابة الصحيحة:</a:t>
            </a:r>
          </a:p>
          <a:p>
            <a:r>
              <a:t>تسريع الوصول → فائدة</a:t>
            </a:r>
          </a:p>
          <a:p>
            <a:r>
              <a:t>الإدمان الرقمي → سلبية</a:t>
            </a:r>
          </a:p>
          <a:p>
            <a:r>
              <a:t>زيادة الإنتاجية → فائدة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تظهر الأوصاف عند النقر:</a:t>
            </a:r>
          </a:p>
          <a:p>
            <a:r>
              <a:t>التعليم: أثرت التقنية الرقمية على قطاع التعليم بشكل كبير</a:t>
            </a:r>
          </a:p>
          <a:p/>
          <a:p>
            <a:r>
              <a:t>الصحة: ساهمت التقنية في تطوير الرعاية الصحية</a:t>
            </a:r>
          </a:p>
          <a:p/>
          <a:p>
            <a:r>
              <a:t>الترفيه: غيرت التقنية طريقة استهلاكنا للترفيه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الإجابة الصحيحة:</a:t>
            </a:r>
          </a:p>
          <a:p>
            <a:r>
              <a:t>توفير بيئة محاكاة رقمية تفاعلية... → التعليم</a:t>
            </a:r>
          </a:p>
          <a:p>
            <a:r>
              <a:t>استخدام أنظمة ذكية لتحليل التفضيلات... → الترفيه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 - كلية علوم الحاسب ونظم المعلومات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0" y="4257368"/>
            <a:ext cx="5181600" cy="5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الأولى: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4800000"/>
            <a:ext cx="5181600" cy="4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المهارات الرقميّة: المشهد التحوليّ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2D588C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90969" y="898751"/>
            <a:ext cx="2610062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98969" y="1061634"/>
            <a:ext cx="2394062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770" y="2315612"/>
            <a:ext cx="11029824" cy="60000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22594" y="2315612"/>
            <a:ext cx="720000" cy="60000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تعريف ماهي التقنية الناشئة.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770" y="3151353"/>
            <a:ext cx="11029824" cy="60000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22594" y="3151353"/>
            <a:ext cx="720000" cy="60000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2617" y="3282077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التعرف إلى فوائد التقنيات الرقميّة.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770" y="3987094"/>
            <a:ext cx="11029824" cy="600002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22594" y="3987094"/>
            <a:ext cx="720000" cy="60000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2617" y="4117818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اكتشاف عيوب التقنية الرقميّة.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90969" y="898751"/>
            <a:ext cx="2610062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98969" y="1061634"/>
            <a:ext cx="2394062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المقدّمة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980000"/>
            <a:ext cx="3240000" cy="3240000"/>
          </a:xfrm>
          <a:prstGeom prst="roundRect">
            <a:avLst/>
          </a:prstGeom>
          <a:solidFill>
            <a:srgbClr val="E0E0E0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صورة توضيحية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0" y="1980000"/>
            <a:ext cx="64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في عصرنا الحالي، أصبحت التقنية الرقميّة جزءًا لا يتجزأ من حياتنا اليوميّة.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90969" y="898751"/>
            <a:ext cx="2610062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98969" y="1061634"/>
            <a:ext cx="2394062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مفهوم التقنية الناشئة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980000"/>
            <a:ext cx="1008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التقنيات الناشئة: هي تقنيات في مراحلها التنموية المبكرة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لديها القدرة على إحداث تغييرات جذرية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تشمل الذكاء الاصطناعي وإنترنت الأشياء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نشاط 1.1 (---)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أيٌّ من العبارات الآتية تُعبّر بدقة عن التقنية الناشئة؟</a:t>
            </a:r>
          </a:p>
        </p:txBody>
      </p:sp>
      <p:sp>
        <p:nvSpPr>
          <p:cNvPr id="6" name="Oval 5"/>
          <p:cNvSpPr/>
          <p:nvPr/>
        </p:nvSpPr>
        <p:spPr>
          <a:xfrm>
            <a:off x="10080000" y="273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70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تستخدم أجهزة حديثة ومتطورة.</a:t>
            </a:r>
          </a:p>
        </p:txBody>
      </p:sp>
      <p:sp>
        <p:nvSpPr>
          <p:cNvPr id="8" name="Oval 7"/>
          <p:cNvSpPr/>
          <p:nvPr/>
        </p:nvSpPr>
        <p:spPr>
          <a:xfrm>
            <a:off x="10080000" y="345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42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تقدّم طرقًا جديدة تؤثر في العمليات والنماذج القائمة.</a:t>
            </a:r>
          </a:p>
        </p:txBody>
      </p:sp>
      <p:sp>
        <p:nvSpPr>
          <p:cNvPr id="10" name="Oval 9"/>
          <p:cNvSpPr/>
          <p:nvPr/>
        </p:nvSpPr>
        <p:spPr>
          <a:xfrm>
            <a:off x="10080000" y="417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414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تقنيات مرتبطة بالإنترنت والاتصالات.</a:t>
            </a:r>
          </a:p>
        </p:txBody>
      </p:sp>
      <p:sp>
        <p:nvSpPr>
          <p:cNvPr id="12" name="Oval 11"/>
          <p:cNvSpPr/>
          <p:nvPr/>
        </p:nvSpPr>
        <p:spPr>
          <a:xfrm>
            <a:off x="10080000" y="4896000"/>
            <a:ext cx="468000" cy="468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88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لأنها ترتكز على استخدام البيانات الكبيرة.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أمثلة على التقنيات الناشئة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0000" y="1980000"/>
            <a:ext cx="3228000" cy="28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0000" y="1980000"/>
            <a:ext cx="3228000" cy="28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الذكاء الاصطناعيّ (AI)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060000"/>
            <a:ext cx="2868000" cy="16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تقنيات تحاكي الذكاء البشري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000" y="1980000"/>
            <a:ext cx="3228000" cy="28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6000" y="1980000"/>
            <a:ext cx="3228000" cy="28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6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6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إنترنت الأشياء (IoT)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6000" y="3060000"/>
            <a:ext cx="2868000" cy="16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ربط الأجهزة بالإنترنت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2000" y="1980000"/>
            <a:ext cx="3228000" cy="288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32000" y="1980000"/>
            <a:ext cx="3228000" cy="288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2000" y="2412000"/>
            <a:ext cx="2868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600" b="0" lang="ar-JO">
                <a:solidFill>
                  <a:srgbClr val="FF9800"/>
                </a:solidFill>
                <a:cs typeface="Tajawal ExtraBold"/>
                <a:latin typeface="Tajawal ExtraBold"/>
                <a:ea typeface="Tajawal ExtraBold"/>
              </a:rPr>
              <a:t>الحوسبة السحابية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2000" y="3060000"/>
            <a:ext cx="2868000" cy="16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تخزين ومعالجة البيانات عن بعد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252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2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المحور الثاني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3600000"/>
            <a:ext cx="86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فوائد وسلبيات التقنية الرقمية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مقارنة بين الفوائد والسلبيات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الفوائد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تسريع الوصول إلى المعلومات</a:t>
            </a:r>
          </a:p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زيادة الإنتاجية</a:t>
            </a:r>
          </a:p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تحسين التواصل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009688"/>
                </a:solidFill>
                <a:cs typeface="Tajawal ExtraBold"/>
                <a:latin typeface="Tajawal ExtraBold"/>
                <a:ea typeface="Tajawal ExtraBold"/>
              </a:rPr>
              <a:t>السلبيات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الإدمان الرقمي</a:t>
            </a:r>
          </a:p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فقدان الخصوصية</a:t>
            </a:r>
          </a:p>
          <a:p>
            <a:pPr algn="r" rtl="1">
              <a:spcAft>
                <a:spcPts val="600"/>
              </a:spcAft>
            </a:pPr>
            <a:r>
              <a:rPr sz="15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الفجوة الرقمية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32000" y="1800000"/>
            <a:ext cx="28800" cy="360000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9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يوجد العديد من الفوائد للتقنية الرقميّة، اسحب المؤشر لاستعراض أبرزها:</a:t>
            </a:r>
          </a:p>
        </p:txBody>
      </p:sp>
      <p:sp>
        <p:nvSpPr>
          <p:cNvPr id="4" name="Oval 3"/>
          <p:cNvSpPr/>
          <p:nvPr/>
        </p:nvSpPr>
        <p:spPr>
          <a:xfrm>
            <a:off x="10080000" y="18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80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تسهيل التواصل والتعاون</a:t>
            </a:r>
          </a:p>
        </p:txBody>
      </p:sp>
      <p:sp>
        <p:nvSpPr>
          <p:cNvPr id="6" name="Oval 5"/>
          <p:cNvSpPr/>
          <p:nvPr/>
        </p:nvSpPr>
        <p:spPr>
          <a:xfrm>
            <a:off x="10080000" y="25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252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تحسين الإنتاجية والكفاءة</a:t>
            </a:r>
          </a:p>
        </p:txBody>
      </p:sp>
      <p:sp>
        <p:nvSpPr>
          <p:cNvPr id="8" name="Oval 7"/>
          <p:cNvSpPr/>
          <p:nvPr/>
        </p:nvSpPr>
        <p:spPr>
          <a:xfrm>
            <a:off x="10080000" y="32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324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تسريع الوصول إلى المعلومات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نشاط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800000"/>
            <a:ext cx="104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صنّف العبارات الآتية فيما إذا كانت من فوائد التقنية الرقميّة أم من سلبياتها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3060000"/>
            <a:ext cx="330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تسريع الوصول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0000" y="3060000"/>
            <a:ext cx="330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الإدمان الرقمي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0000" y="3060000"/>
            <a:ext cx="3300000" cy="72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زيادة الإنتاجية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تأثير التقنية الرقمية على الحياة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انقر على كل جانب أدناه لاكتشاف المزيد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520000"/>
            <a:ext cx="3300000" cy="720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التعليم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0000" y="2520000"/>
            <a:ext cx="3300000" cy="7200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الصحة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0000" y="2520000"/>
            <a:ext cx="3300000" cy="7200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/>
          <a:lstStyle/>
          <a:p>
            <a:pPr algn="ctr" rtl="1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الترفيه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600000"/>
            <a:ext cx="10260000" cy="1800000"/>
          </a:xfrm>
          <a:prstGeom prst="roundRect">
            <a:avLst/>
          </a:prstGeom>
          <a:solidFill>
            <a:srgbClr val="E3F2FD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0000" y="3780000"/>
            <a:ext cx="9900000" cy="14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أثرت التقنية الرقمية على قطاع التعليم بشكل كبير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نشاط 1.3 (تأثير التقنية الرقمية)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6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اختر من القائمة المنسدلة الجانب المناسب لكل عبارة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0" y="2520000"/>
            <a:ext cx="792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توفير بيئة محاكاة رقمية تفاعلية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2520000"/>
            <a:ext cx="1440000" cy="648000"/>
          </a:xfrm>
          <a:prstGeom prst="roundRect">
            <a:avLst/>
          </a:prstGeom>
          <a:solidFill>
            <a:srgbClr val="FFFFFF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3312000"/>
            <a:ext cx="7920000" cy="648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/>
            <a:r>
              <a:rPr sz="14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استخدام أنظمة ذكية لتحليل التفضيلات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3312000"/>
            <a:ext cx="1440000" cy="648000"/>
          </a:xfrm>
          <a:prstGeom prst="roundRect">
            <a:avLst/>
          </a:prstGeom>
          <a:solidFill>
            <a:srgbClr val="FFFFFF"/>
          </a:solidFill>
          <a:ln>
            <a:solidFill>
              <a:srgbClr val="2D5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المهارات الرقميّة: المشهد التحوليّ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84000" y="898751"/>
            <a:ext cx="4424000" cy="695099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92000" y="1061634"/>
            <a:ext cx="42080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18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ملخّص الوحدة الدراسيّة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620000"/>
            <a:ext cx="10440000" cy="36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just" rtl="1">
              <a:lnSpc>
                <a:spcPct val="150000"/>
              </a:lnSpc>
            </a:pPr>
            <a:r>
              <a:rPr sz="2000" b="1" lang="ar-JO">
                <a:solidFill>
                  <a:srgbClr val="2E6CEC"/>
                </a:solidFill>
                <a:cs typeface="Tajawal"/>
                <a:latin typeface="Tajawal"/>
                <a:ea typeface="Tajawal"/>
              </a:rPr>
              <a:t>التقنيات الناشئة: هي تقنيات في مراحلها الأولى تتميز بقدرتها على إحداث تغييرات جذرية.
للتقنية الرقمية فوائد عديدة مثل تسريع الوصول وزيادة الإنتاجية.
توجد أيضاً سلبيات يجب مراعاتها مثل الإدمان الرقمي وفقدان الخصوصية.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60000" y="3600000"/>
            <a:ext cx="7920000" cy="180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مراجعة المحاضرة التفاعلية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حل النشاط التفاعلي</a:t>
            </a:r>
          </a:p>
          <a:p>
            <a:pPr algn="r" rtl="1">
              <a:spcAft>
                <a:spcPts val="600"/>
              </a:spcAft>
            </a:pPr>
            <a:r>
              <a:rPr sz="16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• الاستعداد للاختبار البعدي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559" y="6384932"/>
            <a:ext cx="327098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0"/>
            <a:r>
              <a:rPr sz="2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