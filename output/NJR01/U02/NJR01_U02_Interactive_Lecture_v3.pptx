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المحاور بشكل متتابع مع تأثير ظهور تدريجي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البطاقات الثلاث بشكل متتابع عند النقر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التقنيات بشكل متتابع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تفاعل Click-to-Reveal</a:t>
            </a:r>
          </a:p>
          <a:p>
            <a:r>
              <a:t>- اخفاء التفاصيل في البداية</a:t>
            </a:r>
          </a:p>
          <a:p>
            <a:r>
              <a:t>- عند النقر على كل عنصر يظهر الوصف</a:t>
            </a:r>
          </a:p>
          <a:p/>
          <a:p>
            <a:r>
              <a:t>=== STORYLINE INSTRUCTIONS ===</a:t>
            </a:r>
          </a:p>
          <a:p>
            <a:r>
              <a:t>Slide Type: Click to Reveal</a:t>
            </a:r>
          </a:p>
          <a:p>
            <a:r>
              <a:t>Items: btn_reveal_1, btn_reveal_2, btn_reveal_3, btn_reveal_4, btn_reveal_5, btn_reveal_6, btn_reveal_7</a:t>
            </a:r>
          </a:p>
          <a:p/>
          <a:p>
            <a:r>
              <a:t>=== LAYER INSTRUCTIONS ===</a:t>
            </a:r>
          </a:p>
          <a:p>
            <a:r>
              <a:t>Layer 1: Show content when btn_reveal_1 clicked — S - استبدال (Substitute)</a:t>
            </a:r>
          </a:p>
          <a:p>
            <a:r>
              <a:t>Layer 2: Show content when btn_reveal_2 clicked — C - دمج (Combine)</a:t>
            </a:r>
          </a:p>
          <a:p>
            <a:r>
              <a:t>Layer 3: Show content when btn_reveal_3 clicked — A - تكيف (Adapt)</a:t>
            </a:r>
          </a:p>
          <a:p>
            <a:r>
              <a:t>Layer 4: Show content when btn_reveal_4 clicked — M - تعديل (Modify)</a:t>
            </a:r>
          </a:p>
          <a:p>
            <a:r>
              <a:t>Layer 5: Show content when btn_reveal_5 clicked — P - استخدام آخر (Put to use)</a:t>
            </a:r>
          </a:p>
          <a:p>
            <a:r>
              <a:t>Layer 6: Show content when btn_reveal_6 clicked — E - حذف (Eliminate)</a:t>
            </a:r>
          </a:p>
          <a:p>
            <a:r>
              <a:t>Layer 7: Show content when btn_reveal_7 clicked — R - عكس (Reverse)</a:t>
            </a:r>
          </a:p>
          <a:p/>
          <a:p>
            <a:r>
              <a:t>=== CONTENT ===</a:t>
            </a:r>
          </a:p>
          <a:p>
            <a:r>
              <a:t>btn_reveal_1 (S - استبدال (Substitute)): ما الذي يمكن استبداله في المنتج او الخدمة؟</a:t>
            </a:r>
          </a:p>
          <a:p>
            <a:r>
              <a:t>btn_reveal_2 (C - دمج (Combine)): ما الذي يمكن دمجه مع عنصر آخر؟</a:t>
            </a:r>
          </a:p>
          <a:p>
            <a:r>
              <a:t>btn_reveal_3 (A - تكيف (Adapt)): ما الذي يمكن تكييفه من مجال آخر؟</a:t>
            </a:r>
          </a:p>
          <a:p>
            <a:r>
              <a:t>btn_reveal_4 (M - تعديل (Modify)): ما الذي يمكن تعديله او تكبيره او تصغيره؟</a:t>
            </a:r>
          </a:p>
          <a:p>
            <a:r>
              <a:t>btn_reveal_5 (P - استخدام آخر (Put to use)): هل يمكن استخدامه في مكان آخر؟</a:t>
            </a:r>
          </a:p>
          <a:p>
            <a:r>
              <a:t>btn_reveal_6 (E - حذف (Eliminate)): ما الذي يمكن حذفه او تبسيطه؟</a:t>
            </a:r>
          </a:p>
          <a:p>
            <a:r>
              <a:t>btn_reveal_7 (R - عكس (Reverse)): ماذا لو عكسنا الترتيب او الاتجاه؟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ما هو الحرف الذي يمثل 'الحذف' في طريقة SCAMPER؟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ريادة الاعمال هي تحويل الافكار الى مشاريع ناجحة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عقلية الابتكار التقني هي القدرة على تطوير حلول ابداعية باستخدام التكنولوجيا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ج (opt_c)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opt_c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اي من التالية ليست من المتطلبات الرئيسية لعقلية الابتكار التقني؟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Storyline: عرض متتابع Sequential Reveal - المراحل تظهر واحدة تلو الاخرى</a:t>
            </a:r>
          </a:p>
          <a:p/>
          <a:p>
            <a:r>
              <a:t>=== STORYLINE INSTRUCTIONS ===</a:t>
            </a:r>
          </a:p>
          <a:p>
            <a:r>
              <a:t>Slide Type: Click to Reveal</a:t>
            </a:r>
          </a:p>
          <a:p>
            <a:r>
              <a:t>Items: btn_reveal_1, btn_reveal_2, btn_reveal_3, btn_reveal_4, btn_reveal_5</a:t>
            </a:r>
          </a:p>
          <a:p/>
          <a:p>
            <a:r>
              <a:t>=== LAYER INSTRUCTIONS ===</a:t>
            </a:r>
          </a:p>
          <a:p>
            <a:r>
              <a:t>Layer 1: Show content when btn_reveal_1 clicked — 1. التعاطف</a:t>
            </a:r>
          </a:p>
          <a:p>
            <a:r>
              <a:t>Layer 2: Show content when btn_reveal_2 clicked — 2. التحديد</a:t>
            </a:r>
          </a:p>
          <a:p>
            <a:r>
              <a:t>Layer 3: Show content when btn_reveal_3 clicked — 3. التفكير</a:t>
            </a:r>
          </a:p>
          <a:p>
            <a:r>
              <a:t>Layer 4: Show content when btn_reveal_4 clicked — 4. النموذج الاولي</a:t>
            </a:r>
          </a:p>
          <a:p>
            <a:r>
              <a:t>Layer 5: Show content when btn_reveal_5 clicked — 5. الاختبار</a:t>
            </a:r>
          </a:p>
          <a:p/>
          <a:p>
            <a:r>
              <a:t>=== CONTENT ===</a:t>
            </a:r>
          </a:p>
          <a:p>
            <a:r>
              <a:t>btn_reveal_1 (1. التعاطف): فهم احتياجات المستخدم من خلال الملاحظة والمقابلات واختبارات المستخدمين</a:t>
            </a:r>
          </a:p>
          <a:p>
            <a:r>
              <a:t>btn_reveal_2 (2. التحديد): توضيح وتعريف المشكلة بدقة بعد فهم احتياجات المستخدم</a:t>
            </a:r>
          </a:p>
          <a:p>
            <a:r>
              <a:t>btn_reveal_3 (3. التفكير): تبادل الافكار وتوليد حلول متعددة - الهدف هو الكم وليس الكيف</a:t>
            </a:r>
          </a:p>
          <a:p>
            <a:r>
              <a:t>btn_reveal_4 (4. النموذج الاولي): بناء نماذج بسيطة واختبارها - لا تحتاج لان تكون مثالية</a:t>
            </a:r>
          </a:p>
          <a:p>
            <a:r>
              <a:t>btn_reveal_5 (5. الاختبار): تقييم الحل وتحسينه من خلال التجربة والتكرار المستمر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تحديد احتياجات المستخدم الحقيقية هو اساس الابتكار الهادف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التفكير التصميمي عملية تكرارية وليست خطية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Drag and Drop - Ordering</a:t>
            </a:r>
          </a:p>
          <a:p>
            <a:r>
              <a:t>Correct Order:</a:t>
            </a:r>
          </a:p>
          <a:p>
            <a:r>
              <a:t>drag_item_1 → drop_zone_1: التعاطف</a:t>
            </a:r>
          </a:p>
          <a:p>
            <a:r>
              <a:t>drag_item_2 → drop_zone_2: التحديد</a:t>
            </a:r>
          </a:p>
          <a:p>
            <a:r>
              <a:t>drag_item_3 → drop_zone_3: التفكير</a:t>
            </a:r>
          </a:p>
          <a:p>
            <a:r>
              <a:t>drag_item_4 → drop_zone_4: النموذج الاولي</a:t>
            </a:r>
          </a:p>
          <a:p>
            <a:r>
              <a:t>drag_item_5 → drop_zone_5: الاختبار</a:t>
            </a:r>
          </a:p>
          <a:p/>
          <a:p>
            <a:r>
              <a:t>=== FREEFORM SETUP ===</a:t>
            </a:r>
          </a:p>
          <a:p>
            <a:r>
              <a:t>1. Insert &gt; Convert to Freeform &gt; Drag and Drop</a:t>
            </a:r>
          </a:p>
          <a:p>
            <a:r>
              <a:t>2. Match drag_item shapes to drop_zone shapes</a:t>
            </a:r>
          </a:p>
          <a:p>
            <a:r>
              <a:t>3. Set correct order as shown above</a:t>
            </a:r>
          </a:p>
          <a:p/>
          <a:p>
            <a:r>
              <a:t>=== NARRATOR SCRIPT ===</a:t>
            </a:r>
          </a:p>
          <a:p>
            <a:r>
              <a:t>رتب المراحل الخمس للتفكير التصميمي بالترتيب الصحيح: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الفكرة يجب ان تحظى بطلب في السوق لتكون مشروعا قابلا للاستمرار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اختبار A/B يقارن بين فكرتين لمعرفة الانسب - التكرار المستمر يؤدي لمنتجات افضل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ما هو الهدف الرئيسي من اختبار A/B؟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ب (opt_b)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opt_b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اي من التالية يعتبر من سمات العقلية الريادية؟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 - كلية علوم الحاسب ونظم المعلومات</a:t>
            </a:r>
          </a:p>
        </p:txBody>
      </p:sp>
      <p:sp>
        <p:nvSpPr>
          <p:cNvPr id="3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الوحدة الثانية</a:t>
            </a:r>
          </a:p>
        </p:txBody>
      </p:sp>
      <p:sp>
        <p:nvSpPr>
          <p:cNvPr id="4" name="btn_start">
            <a:hlinkClick action="ppaction://hlinksldjump" r:id="rId4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5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6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5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6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435048"/>
          </a:xfrm>
          <a:prstGeom prst="rect">
            <a:avLst/>
          </a:prstGeom>
        </p:spPr>
      </p:pic>
      <p:pic>
        <p:nvPicPr>
          <p:cNvPr id="7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435048"/>
          </a:xfrm>
          <a:prstGeom prst="rect">
            <a:avLst/>
          </a:prstGeom>
        </p:spPr>
      </p:pic>
      <p:sp>
        <p:nvSpPr>
          <p:cNvPr id="8" name="txt_obj_1"/>
          <p:cNvSpPr txBox="1"/>
          <p:nvPr/>
        </p:nvSpPr>
        <p:spPr>
          <a:xfrm>
            <a:off x="1462617" y="236385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يعدد المتعلم عناصر الابتكار الثلاثة وتقنيات العصف الذهني الاساسية</a:t>
            </a:r>
          </a:p>
        </p:txBody>
      </p:sp>
      <p:pic>
        <p:nvPicPr>
          <p:cNvPr id="9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822660"/>
            <a:ext cx="11029824" cy="435048"/>
          </a:xfrm>
          <a:prstGeom prst="rect">
            <a:avLst/>
          </a:prstGeom>
        </p:spPr>
      </p:pic>
      <p:pic>
        <p:nvPicPr>
          <p:cNvPr id="10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822660"/>
            <a:ext cx="703228" cy="435048"/>
          </a:xfrm>
          <a:prstGeom prst="rect">
            <a:avLst/>
          </a:prstGeom>
        </p:spPr>
      </p:pic>
      <p:sp>
        <p:nvSpPr>
          <p:cNvPr id="11" name="txt_obj_2"/>
          <p:cNvSpPr txBox="1"/>
          <p:nvPr/>
        </p:nvSpPr>
        <p:spPr>
          <a:xfrm>
            <a:off x="1462617" y="287090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يوضح المتعلم مفهوم ريادة الاعمال وعلاقتها بالابتكار التقني</a:t>
            </a:r>
          </a:p>
        </p:txBody>
      </p:sp>
      <p:pic>
        <p:nvPicPr>
          <p:cNvPr id="12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329708"/>
            <a:ext cx="11029824" cy="435048"/>
          </a:xfrm>
          <a:prstGeom prst="rect">
            <a:avLst/>
          </a:prstGeom>
        </p:spPr>
      </p:pic>
      <p:pic>
        <p:nvPicPr>
          <p:cNvPr id="13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329708"/>
            <a:ext cx="703228" cy="435048"/>
          </a:xfrm>
          <a:prstGeom prst="rect">
            <a:avLst/>
          </a:prstGeom>
        </p:spPr>
      </p:pic>
      <p:sp>
        <p:nvSpPr>
          <p:cNvPr id="14" name="txt_obj_3"/>
          <p:cNvSpPr txBox="1"/>
          <p:nvPr/>
        </p:nvSpPr>
        <p:spPr>
          <a:xfrm>
            <a:off x="1462617" y="3377955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يشرح المتعلم المراحل الخمس للتفكير التصميمي ودور كل مرحلة</a:t>
            </a:r>
          </a:p>
        </p:txBody>
      </p:sp>
      <p:pic>
        <p:nvPicPr>
          <p:cNvPr id="15" name="bg_obj_4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3836756"/>
            <a:ext cx="11029824" cy="435048"/>
          </a:xfrm>
          <a:prstGeom prst="rect">
            <a:avLst/>
          </a:prstGeom>
        </p:spPr>
      </p:pic>
      <p:pic>
        <p:nvPicPr>
          <p:cNvPr id="16" name="icon_obj_4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3836756"/>
            <a:ext cx="703228" cy="435048"/>
          </a:xfrm>
          <a:prstGeom prst="rect">
            <a:avLst/>
          </a:prstGeom>
        </p:spPr>
      </p:pic>
      <p:sp>
        <p:nvSpPr>
          <p:cNvPr id="17" name="txt_obj_4"/>
          <p:cNvSpPr txBox="1"/>
          <p:nvPr/>
        </p:nvSpPr>
        <p:spPr>
          <a:xfrm>
            <a:off x="1462617" y="3885003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يطبق المتعلم طريقة SCAMPER لتوليد افكار ابداعية جديدة</a:t>
            </a:r>
          </a:p>
        </p:txBody>
      </p:sp>
      <p:pic>
        <p:nvPicPr>
          <p:cNvPr id="18" name="bg_obj_5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343804"/>
            <a:ext cx="11029824" cy="435048"/>
          </a:xfrm>
          <a:prstGeom prst="rect">
            <a:avLst/>
          </a:prstGeom>
        </p:spPr>
      </p:pic>
      <p:pic>
        <p:nvPicPr>
          <p:cNvPr id="19" name="icon_obj_5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343804"/>
            <a:ext cx="703228" cy="435048"/>
          </a:xfrm>
          <a:prstGeom prst="rect">
            <a:avLst/>
          </a:prstGeom>
        </p:spPr>
      </p:pic>
      <p:sp>
        <p:nvSpPr>
          <p:cNvPr id="20" name="txt_obj_5"/>
          <p:cNvSpPr txBox="1"/>
          <p:nvPr/>
        </p:nvSpPr>
        <p:spPr>
          <a:xfrm>
            <a:off x="1462617" y="4392051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يستخدم المتعلم مراحل التفكير التصميمي لبناء نموذج اولي</a:t>
            </a:r>
          </a:p>
        </p:txBody>
      </p:sp>
      <p:pic>
        <p:nvPicPr>
          <p:cNvPr id="21" name="bg_obj_6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850852"/>
            <a:ext cx="11029824" cy="435048"/>
          </a:xfrm>
          <a:prstGeom prst="rect">
            <a:avLst/>
          </a:prstGeom>
        </p:spPr>
      </p:pic>
      <p:pic>
        <p:nvPicPr>
          <p:cNvPr id="22" name="icon_obj_6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850852"/>
            <a:ext cx="703228" cy="435048"/>
          </a:xfrm>
          <a:prstGeom prst="rect">
            <a:avLst/>
          </a:prstGeom>
        </p:spPr>
      </p:pic>
      <p:sp>
        <p:nvSpPr>
          <p:cNvPr id="23" name="txt_obj_6"/>
          <p:cNvSpPr txBox="1"/>
          <p:nvPr/>
        </p:nvSpPr>
        <p:spPr>
          <a:xfrm>
            <a:off x="1462617" y="489909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يحلل المتعلم العلاقة بين التكنولوجيا وملاءمة السوق</a:t>
            </a:r>
          </a:p>
        </p:txBody>
      </p:sp>
      <p:pic>
        <p:nvPicPr>
          <p:cNvPr id="24" name="bg_obj_7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357900"/>
            <a:ext cx="11029824" cy="435048"/>
          </a:xfrm>
          <a:prstGeom prst="rect">
            <a:avLst/>
          </a:prstGeom>
        </p:spPr>
      </p:pic>
      <p:pic>
        <p:nvPicPr>
          <p:cNvPr id="25" name="icon_obj_7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357900"/>
            <a:ext cx="703228" cy="435048"/>
          </a:xfrm>
          <a:prstGeom prst="rect">
            <a:avLst/>
          </a:prstGeom>
        </p:spPr>
      </p:pic>
      <p:sp>
        <p:nvSpPr>
          <p:cNvPr id="26" name="txt_obj_7"/>
          <p:cNvSpPr txBox="1"/>
          <p:nvPr/>
        </p:nvSpPr>
        <p:spPr>
          <a:xfrm>
            <a:off x="1462617" y="540614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يقيم المتعلم فرص العمل الريادية بناء على معايير محددة</a:t>
            </a:r>
          </a:p>
        </p:txBody>
      </p:sp>
      <p:pic>
        <p:nvPicPr>
          <p:cNvPr id="27" name="bg_obj_8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864948"/>
            <a:ext cx="11029824" cy="435048"/>
          </a:xfrm>
          <a:prstGeom prst="rect">
            <a:avLst/>
          </a:prstGeom>
        </p:spPr>
      </p:pic>
      <p:pic>
        <p:nvPicPr>
          <p:cNvPr id="28" name="icon_obj_8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864948"/>
            <a:ext cx="703228" cy="435048"/>
          </a:xfrm>
          <a:prstGeom prst="rect">
            <a:avLst/>
          </a:prstGeom>
        </p:spPr>
      </p:pic>
      <p:sp>
        <p:nvSpPr>
          <p:cNvPr id="29" name="txt_obj_8"/>
          <p:cNvSpPr txBox="1"/>
          <p:nvPr/>
        </p:nvSpPr>
        <p:spPr>
          <a:xfrm>
            <a:off x="1462617" y="5913195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ان يصمم المتعلم حلا ابتكاريا لمشكلة رقمية واقعية</a:t>
            </a:r>
          </a:p>
        </p:txBody>
      </p:sp>
      <p:sp>
        <p:nvSpPr>
          <p:cNvPr id="3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محاور المحاضرة</a:t>
            </a:r>
          </a:p>
        </p:txBody>
      </p:sp>
      <p:sp>
        <p:nvSpPr>
          <p:cNvPr id="5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الاول: ما هو الابتكار واهمية توليد الافكار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الثاني: ريادة الاعمال وعقلية الابتكار التقني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الثالث: التفكير التصميمي ومراحله الخمس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الرابع: المرونة والتكيف وملاءمة السوق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المحور الخامس: بناء عقلية ريادية والتغلب على التحديات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الابتكار؟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حلول جديدة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ايجاد حلول مبتكرة وجديدة للمشاكل الواقعية التي تواجه الافراد والمؤسسات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تحسين الموجود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الابتكار يقوم بتحسين العمليات او المنتجات او الخدمات الحالية وتطويرها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8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تقنيات جديدة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يتضمن الابتكار استخدام تقنيات جديدة او اساليب ابداعية لم تكن مستخدمة من قبل</a:t>
            </a:r>
          </a:p>
        </p:txBody>
      </p:sp>
      <p:sp>
        <p:nvSpPr>
          <p:cNvPr id="2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اهمية توليد الافكار</a:t>
            </a:r>
          </a:p>
        </p:txBody>
      </p:sp>
      <p:sp>
        <p:nvSpPr>
          <p:cNvPr id="5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اساس الابتكار هو توليد افكار متنوعة تتطلب التفكير خارج الصندوق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تقنيات العصف الذهني: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  - التواصل الحر: دع الافكار تتدفق دون اصدار احكام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  - الخرائط الذهنية: ربط الافكار والمفاهيم بصريا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  - طريقة SCAMPER: اداة فعالة لتوليد افكار جديدة بشكل منهجي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طريقة SCAMPER لتوليد الافكار</a:t>
            </a:r>
          </a:p>
        </p:txBody>
      </p:sp>
      <p:sp>
        <p:nvSpPr>
          <p:cNvPr id="5" name="txt_instruction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حرف لعرض التفاصيل</a:t>
            </a:r>
          </a:p>
        </p:txBody>
      </p:sp>
      <p:sp>
        <p:nvSpPr>
          <p:cNvPr id="6" name="bg_reveal_1"/>
          <p:cNvSpPr/>
          <p:nvPr/>
        </p:nvSpPr>
        <p:spPr>
          <a:xfrm>
            <a:off x="900000" y="2340000"/>
            <a:ext cx="10260000" cy="504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tn_reveal_1"/>
          <p:cNvSpPr/>
          <p:nvPr/>
        </p:nvSpPr>
        <p:spPr>
          <a:xfrm>
            <a:off x="10512000" y="232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8" name="txt_reveal_1"/>
          <p:cNvSpPr txBox="1"/>
          <p:nvPr/>
        </p:nvSpPr>
        <p:spPr>
          <a:xfrm>
            <a:off x="1080000" y="2340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S - استبدال (Substitute)</a:t>
            </a:r>
          </a:p>
        </p:txBody>
      </p:sp>
      <p:sp>
        <p:nvSpPr>
          <p:cNvPr id="9" name="bg_reveal_2"/>
          <p:cNvSpPr/>
          <p:nvPr/>
        </p:nvSpPr>
        <p:spPr>
          <a:xfrm>
            <a:off x="900000" y="2916000"/>
            <a:ext cx="10260000" cy="5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tn_reveal_2"/>
          <p:cNvSpPr/>
          <p:nvPr/>
        </p:nvSpPr>
        <p:spPr>
          <a:xfrm>
            <a:off x="10512000" y="289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1" name="txt_reveal_2"/>
          <p:cNvSpPr txBox="1"/>
          <p:nvPr/>
        </p:nvSpPr>
        <p:spPr>
          <a:xfrm>
            <a:off x="1080000" y="2916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C - دمج (Combine)</a:t>
            </a:r>
          </a:p>
        </p:txBody>
      </p:sp>
      <p:sp>
        <p:nvSpPr>
          <p:cNvPr id="12" name="bg_reveal_3"/>
          <p:cNvSpPr/>
          <p:nvPr/>
        </p:nvSpPr>
        <p:spPr>
          <a:xfrm>
            <a:off x="900000" y="3492000"/>
            <a:ext cx="10260000" cy="504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tn_reveal_3"/>
          <p:cNvSpPr/>
          <p:nvPr/>
        </p:nvSpPr>
        <p:spPr>
          <a:xfrm>
            <a:off x="10512000" y="3474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xt_reveal_3"/>
          <p:cNvSpPr txBox="1"/>
          <p:nvPr/>
        </p:nvSpPr>
        <p:spPr>
          <a:xfrm>
            <a:off x="1080000" y="3492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A - تكيف (Adapt)</a:t>
            </a:r>
          </a:p>
        </p:txBody>
      </p:sp>
      <p:sp>
        <p:nvSpPr>
          <p:cNvPr id="15" name="bg_reveal_4"/>
          <p:cNvSpPr/>
          <p:nvPr/>
        </p:nvSpPr>
        <p:spPr>
          <a:xfrm>
            <a:off x="900000" y="4068000"/>
            <a:ext cx="10260000" cy="5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tn_reveal_4"/>
          <p:cNvSpPr/>
          <p:nvPr/>
        </p:nvSpPr>
        <p:spPr>
          <a:xfrm>
            <a:off x="10512000" y="40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17" name="txt_reveal_4"/>
          <p:cNvSpPr txBox="1"/>
          <p:nvPr/>
        </p:nvSpPr>
        <p:spPr>
          <a:xfrm>
            <a:off x="1080000" y="4068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M - تعديل (Modify)</a:t>
            </a:r>
          </a:p>
        </p:txBody>
      </p:sp>
      <p:sp>
        <p:nvSpPr>
          <p:cNvPr id="18" name="bg_reveal_5"/>
          <p:cNvSpPr/>
          <p:nvPr/>
        </p:nvSpPr>
        <p:spPr>
          <a:xfrm>
            <a:off x="900000" y="4644000"/>
            <a:ext cx="10260000" cy="504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tn_reveal_5"/>
          <p:cNvSpPr/>
          <p:nvPr/>
        </p:nvSpPr>
        <p:spPr>
          <a:xfrm>
            <a:off x="10512000" y="462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  <p:sp>
        <p:nvSpPr>
          <p:cNvPr id="20" name="txt_reveal_5"/>
          <p:cNvSpPr txBox="1"/>
          <p:nvPr/>
        </p:nvSpPr>
        <p:spPr>
          <a:xfrm>
            <a:off x="1080000" y="4644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P - استخدام آخر (Put to use)</a:t>
            </a:r>
          </a:p>
        </p:txBody>
      </p:sp>
      <p:sp>
        <p:nvSpPr>
          <p:cNvPr id="21" name="bg_reveal_6"/>
          <p:cNvSpPr/>
          <p:nvPr/>
        </p:nvSpPr>
        <p:spPr>
          <a:xfrm>
            <a:off x="900000" y="5220000"/>
            <a:ext cx="10260000" cy="5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tn_reveal_6"/>
          <p:cNvSpPr/>
          <p:nvPr/>
        </p:nvSpPr>
        <p:spPr>
          <a:xfrm>
            <a:off x="10512000" y="520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  <p:sp>
        <p:nvSpPr>
          <p:cNvPr id="23" name="txt_reveal_6"/>
          <p:cNvSpPr txBox="1"/>
          <p:nvPr/>
        </p:nvSpPr>
        <p:spPr>
          <a:xfrm>
            <a:off x="1080000" y="5220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E - حذف (Eliminate)</a:t>
            </a:r>
          </a:p>
        </p:txBody>
      </p:sp>
      <p:sp>
        <p:nvSpPr>
          <p:cNvPr id="24" name="bg_reveal_7"/>
          <p:cNvSpPr/>
          <p:nvPr/>
        </p:nvSpPr>
        <p:spPr>
          <a:xfrm>
            <a:off x="900000" y="5796000"/>
            <a:ext cx="10260000" cy="504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tn_reveal_7"/>
          <p:cNvSpPr/>
          <p:nvPr/>
        </p:nvSpPr>
        <p:spPr>
          <a:xfrm>
            <a:off x="10512000" y="577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  <p:sp>
        <p:nvSpPr>
          <p:cNvPr id="26" name="txt_reveal_7"/>
          <p:cNvSpPr txBox="1"/>
          <p:nvPr/>
        </p:nvSpPr>
        <p:spPr>
          <a:xfrm>
            <a:off x="1080000" y="5796000"/>
            <a:ext cx="9180000" cy="504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R - عكس (Reverse)</a:t>
            </a:r>
          </a:p>
        </p:txBody>
      </p:sp>
      <p:sp>
        <p:nvSpPr>
          <p:cNvPr id="2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الحرف الذي يمثل 'الحذف' في طريقة SCAMPER؟</a:t>
            </a:r>
          </a:p>
        </p:txBody>
      </p:sp>
      <p:sp>
        <p:nvSpPr>
          <p:cNvPr id="6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08000" y="2664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08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S - Substitute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08000" y="3456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08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E - Eliminate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08000" y="4248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_c"/>
          <p:cNvSpPr/>
          <p:nvPr/>
        </p:nvSpPr>
        <p:spPr>
          <a:xfrm>
            <a:off x="1008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7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M - Modify</a:t>
            </a:r>
          </a:p>
        </p:txBody>
      </p:sp>
      <p:sp>
        <p:nvSpPr>
          <p:cNvPr id="18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08000" y="5040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t_d"/>
          <p:cNvSpPr/>
          <p:nvPr/>
        </p:nvSpPr>
        <p:spPr>
          <a:xfrm>
            <a:off x="1008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21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R - Reverse</a:t>
            </a:r>
          </a:p>
        </p:txBody>
      </p:sp>
      <p:sp>
        <p:nvSpPr>
          <p:cNvPr id="22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23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هي ريادة الاعمال؟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حل المشكلات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تحديد المشكلات وتحليلها وايجاد حلول عملية فعالة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الابداع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 بطرق غير تقليدية لايجاد حلول مبتكرة وفريدة من نوعها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8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المرونة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التكيف مع التغيرات والظروف المختلفة بسرعة</a:t>
            </a:r>
          </a:p>
        </p:txBody>
      </p:sp>
      <p:sp>
        <p:nvSpPr>
          <p:cNvPr id="2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عقلية الابتكار التقني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التفكير التصميمي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فهم احتياجات المستخدم قبل تطوير الحلول الرقمية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المرونة والتكيف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الاستجابة للتغيرات التكنولوجية المتسارعة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8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ملاءمة السوق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ضمان تلبية المنتجات الرقمية لاحتياجات السوق الفعلية</a:t>
            </a:r>
          </a:p>
        </p:txBody>
      </p:sp>
      <p:sp>
        <p:nvSpPr>
          <p:cNvPr id="2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اي من التالية ليست من المتطلبات الرئيسية لعقلية الابتكار التقني؟</a:t>
            </a:r>
          </a:p>
        </p:txBody>
      </p:sp>
      <p:sp>
        <p:nvSpPr>
          <p:cNvPr id="6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08000" y="2664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08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 التصميمي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08000" y="3456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08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المرونة والقدرة على التكيف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08000" y="4248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_c"/>
          <p:cNvSpPr/>
          <p:nvPr/>
        </p:nvSpPr>
        <p:spPr>
          <a:xfrm>
            <a:off x="1008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7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البرمجة بلغة Python</a:t>
            </a:r>
          </a:p>
        </p:txBody>
      </p:sp>
      <p:sp>
        <p:nvSpPr>
          <p:cNvPr id="18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08000" y="5040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t_d"/>
          <p:cNvSpPr/>
          <p:nvPr/>
        </p:nvSpPr>
        <p:spPr>
          <a:xfrm>
            <a:off x="1008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21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ملاءمة التكنولوجيا للسوق</a:t>
            </a:r>
          </a:p>
        </p:txBody>
      </p:sp>
      <p:sp>
        <p:nvSpPr>
          <p:cNvPr id="22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23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/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التفكير التصميمي</a:t>
            </a:r>
          </a:p>
        </p:txBody>
      </p:sp>
      <p:sp>
        <p:nvSpPr>
          <p:cNvPr id="4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_section_subtitle"/>
          <p:cNvSpPr txBox="1"/>
          <p:nvPr/>
        </p:nvSpPr>
        <p:spPr>
          <a:xfrm>
            <a:off x="1440000" y="352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نهج ابتكاري متمحور حول الانسان يستخدمه شركات مثل جوجل وآبل</a:t>
            </a:r>
          </a:p>
        </p:txBody>
      </p:sp>
      <p:sp>
        <p:nvSpPr>
          <p:cNvPr id="6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التفكير التصميمي؟</a:t>
            </a:r>
          </a:p>
        </p:txBody>
      </p:sp>
      <p:sp>
        <p:nvSpPr>
          <p:cNvPr id="5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نهج ابتكاري متمحور حول الانسان لحل المشكلات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يركز على فهم احتياجات المستخدم قبل تطوير الحلول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يستخدم النهج التكراري: بناء الافكار واختبارها وتحسينها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يستخدم من قبل شركات عالمية رائدة مثل جوجل وآبل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المراحل الخمس للتفكير التصميمي</a:t>
            </a:r>
          </a:p>
        </p:txBody>
      </p:sp>
      <p:sp>
        <p:nvSpPr>
          <p:cNvPr id="5" name="txt_instruction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مرحلة لعرض التفاصيل</a:t>
            </a:r>
          </a:p>
        </p:txBody>
      </p:sp>
      <p:sp>
        <p:nvSpPr>
          <p:cNvPr id="6" name="bg_reveal_1"/>
          <p:cNvSpPr/>
          <p:nvPr/>
        </p:nvSpPr>
        <p:spPr>
          <a:xfrm>
            <a:off x="900000" y="2340000"/>
            <a:ext cx="10260000" cy="648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tn_reveal_1"/>
          <p:cNvSpPr/>
          <p:nvPr/>
        </p:nvSpPr>
        <p:spPr>
          <a:xfrm>
            <a:off x="10512000" y="2394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8" name="txt_reveal_1"/>
          <p:cNvSpPr txBox="1"/>
          <p:nvPr/>
        </p:nvSpPr>
        <p:spPr>
          <a:xfrm>
            <a:off x="1080000" y="2340000"/>
            <a:ext cx="918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1. التعاطف</a:t>
            </a:r>
          </a:p>
        </p:txBody>
      </p:sp>
      <p:sp>
        <p:nvSpPr>
          <p:cNvPr id="9" name="bg_reveal_2"/>
          <p:cNvSpPr/>
          <p:nvPr/>
        </p:nvSpPr>
        <p:spPr>
          <a:xfrm>
            <a:off x="900000" y="3168000"/>
            <a:ext cx="1026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tn_reveal_2"/>
          <p:cNvSpPr/>
          <p:nvPr/>
        </p:nvSpPr>
        <p:spPr>
          <a:xfrm>
            <a:off x="10512000" y="322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1" name="txt_reveal_2"/>
          <p:cNvSpPr txBox="1"/>
          <p:nvPr/>
        </p:nvSpPr>
        <p:spPr>
          <a:xfrm>
            <a:off x="1080000" y="3168000"/>
            <a:ext cx="918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2. التحديد</a:t>
            </a:r>
          </a:p>
        </p:txBody>
      </p:sp>
      <p:sp>
        <p:nvSpPr>
          <p:cNvPr id="12" name="bg_reveal_3"/>
          <p:cNvSpPr/>
          <p:nvPr/>
        </p:nvSpPr>
        <p:spPr>
          <a:xfrm>
            <a:off x="900000" y="3996000"/>
            <a:ext cx="10260000" cy="648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tn_reveal_3"/>
          <p:cNvSpPr/>
          <p:nvPr/>
        </p:nvSpPr>
        <p:spPr>
          <a:xfrm>
            <a:off x="10512000" y="405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xt_reveal_3"/>
          <p:cNvSpPr txBox="1"/>
          <p:nvPr/>
        </p:nvSpPr>
        <p:spPr>
          <a:xfrm>
            <a:off x="1080000" y="3996000"/>
            <a:ext cx="918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3. التفكير</a:t>
            </a:r>
          </a:p>
        </p:txBody>
      </p:sp>
      <p:sp>
        <p:nvSpPr>
          <p:cNvPr id="15" name="bg_reveal_4"/>
          <p:cNvSpPr/>
          <p:nvPr/>
        </p:nvSpPr>
        <p:spPr>
          <a:xfrm>
            <a:off x="900000" y="4824000"/>
            <a:ext cx="10260000" cy="6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tn_reveal_4"/>
          <p:cNvSpPr/>
          <p:nvPr/>
        </p:nvSpPr>
        <p:spPr>
          <a:xfrm>
            <a:off x="10512000" y="487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17" name="txt_reveal_4"/>
          <p:cNvSpPr txBox="1"/>
          <p:nvPr/>
        </p:nvSpPr>
        <p:spPr>
          <a:xfrm>
            <a:off x="1080000" y="4824000"/>
            <a:ext cx="918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4. النموذج الاولي</a:t>
            </a:r>
          </a:p>
        </p:txBody>
      </p:sp>
      <p:sp>
        <p:nvSpPr>
          <p:cNvPr id="18" name="bg_reveal_5"/>
          <p:cNvSpPr/>
          <p:nvPr/>
        </p:nvSpPr>
        <p:spPr>
          <a:xfrm>
            <a:off x="900000" y="5652000"/>
            <a:ext cx="10260000" cy="648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tn_reveal_5"/>
          <p:cNvSpPr/>
          <p:nvPr/>
        </p:nvSpPr>
        <p:spPr>
          <a:xfrm>
            <a:off x="10512000" y="570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  <p:sp>
        <p:nvSpPr>
          <p:cNvPr id="20" name="txt_reveal_5"/>
          <p:cNvSpPr txBox="1"/>
          <p:nvPr/>
        </p:nvSpPr>
        <p:spPr>
          <a:xfrm>
            <a:off x="1080000" y="5652000"/>
            <a:ext cx="918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5. الاختبار</a:t>
            </a:r>
          </a:p>
        </p:txBody>
      </p:sp>
      <p:sp>
        <p:nvSpPr>
          <p:cNvPr id="21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التعاطف وتحديد الاحتياجات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الملاحظة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ملاحظة كيفية استخدام الناس للمنتجات في الحياة الواقعية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المقابلات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المشاركة في مقابلات مع المستخدمين للتعرف على وجهات نظرهم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8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استطلاعات الرأي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اجراء استطلاعات رأي لجمع آراء المستخدمين بشكل واسع</a:t>
            </a:r>
          </a:p>
        </p:txBody>
      </p:sp>
      <p:sp>
        <p:nvSpPr>
          <p:cNvPr id="2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التحديد والتفكير والنمذجة</a:t>
            </a:r>
          </a:p>
        </p:txBody>
      </p:sp>
      <p:sp>
        <p:nvSpPr>
          <p:cNvPr id="5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التحديد: توضيح وتعريف المشكلة بدقة بعد فهم احتياجات المستخدم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التفكير: تبادل الافكار وتوليد حلول متعددة - كلما زادت الافكار كان افضل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النموذج الاولي: بناء نماذج بسيطة واختبارها بسرعة وبأقل تكلفة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العملية تكرارية: يمكن العودة لاي مرحلة سابقة حسب الحاجة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الاختبار والتكرار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2349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بناء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بناء النموذج الاولي بسرعة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3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3537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7000" y="1980000"/>
            <a:ext cx="2349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3717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اختبار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3717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النموذج مع المستخدمين الحقيقيين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6174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4000" y="1980000"/>
            <a:ext cx="2349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6354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صقل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6354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تحسين النموذج بناء على الملاحظات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7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4"/>
          <p:cNvSpPr/>
          <p:nvPr/>
        </p:nvSpPr>
        <p:spPr>
          <a:xfrm>
            <a:off x="8811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1000" y="1980000"/>
            <a:ext cx="2349000" cy="432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xt_card_4_title"/>
          <p:cNvSpPr txBox="1"/>
          <p:nvPr/>
        </p:nvSpPr>
        <p:spPr>
          <a:xfrm>
            <a:off x="8991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تكرار</a:t>
            </a:r>
          </a:p>
        </p:txBody>
      </p:sp>
      <p:sp>
        <p:nvSpPr>
          <p:cNvPr id="24" name="txt_card_4_body"/>
          <p:cNvSpPr txBox="1"/>
          <p:nvPr/>
        </p:nvSpPr>
        <p:spPr>
          <a:xfrm>
            <a:off x="8991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تكرار العملية حتى الوصول للحل الامثل</a:t>
            </a:r>
          </a:p>
        </p:txBody>
      </p:sp>
      <p:sp>
        <p:nvSpPr>
          <p:cNvPr id="25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سحب وترتيب</a:t>
            </a:r>
          </a:p>
        </p:txBody>
      </p:sp>
      <p:sp>
        <p:nvSpPr>
          <p:cNvPr id="5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رتب المراحل الخمس للتفكير التصميمي بالترتيب الصحيح:</a:t>
            </a:r>
          </a:p>
        </p:txBody>
      </p:sp>
      <p:sp>
        <p:nvSpPr>
          <p:cNvPr id="6" name="txt_instruction"/>
          <p:cNvSpPr txBox="1"/>
          <p:nvPr/>
        </p:nvSpPr>
        <p:spPr>
          <a:xfrm>
            <a:off x="900000" y="2520000"/>
            <a:ext cx="10440000" cy="43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156082"/>
                </a:solidFill>
                <a:cs typeface="Tajawal Medium"/>
                <a:latin typeface="Tajawal Medium"/>
                <a:ea typeface="Tajawal Medium"/>
              </a:rPr>
              <a:t>اسحب العناصر التالية إلى الترتيب الصحيح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800" y="3088800"/>
            <a:ext cx="4320000" cy="590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rag_item_1"/>
          <p:cNvSpPr/>
          <p:nvPr/>
        </p:nvSpPr>
        <p:spPr>
          <a:xfrm>
            <a:off x="900000" y="3060000"/>
            <a:ext cx="4320000" cy="59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النموذج الاولي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800" y="3751200"/>
            <a:ext cx="4320000" cy="590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rag_item_2"/>
          <p:cNvSpPr/>
          <p:nvPr/>
        </p:nvSpPr>
        <p:spPr>
          <a:xfrm>
            <a:off x="900000" y="3722400"/>
            <a:ext cx="4320000" cy="59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التعاطف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800" y="4413600"/>
            <a:ext cx="4320000" cy="590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rag_item_3"/>
          <p:cNvSpPr/>
          <p:nvPr/>
        </p:nvSpPr>
        <p:spPr>
          <a:xfrm>
            <a:off x="900000" y="4384800"/>
            <a:ext cx="4320000" cy="59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الاختبار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800" y="5076000"/>
            <a:ext cx="4320000" cy="590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rag_item_4"/>
          <p:cNvSpPr/>
          <p:nvPr/>
        </p:nvSpPr>
        <p:spPr>
          <a:xfrm>
            <a:off x="900000" y="5047200"/>
            <a:ext cx="4320000" cy="59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التحديد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800" y="5738400"/>
            <a:ext cx="4320000" cy="5904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rag_item_5"/>
          <p:cNvSpPr/>
          <p:nvPr/>
        </p:nvSpPr>
        <p:spPr>
          <a:xfrm>
            <a:off x="900000" y="5709600"/>
            <a:ext cx="4320000" cy="59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التفكير</a:t>
            </a:r>
          </a:p>
        </p:txBody>
      </p:sp>
      <p:sp>
        <p:nvSpPr>
          <p:cNvPr id="17" name="drop_zone_1"/>
          <p:cNvSpPr/>
          <p:nvPr/>
        </p:nvSpPr>
        <p:spPr>
          <a:xfrm>
            <a:off x="6480000" y="3060000"/>
            <a:ext cx="4320000" cy="5904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52000" y="30852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9" name="drop_zone_2"/>
          <p:cNvSpPr/>
          <p:nvPr/>
        </p:nvSpPr>
        <p:spPr>
          <a:xfrm>
            <a:off x="6480000" y="3722400"/>
            <a:ext cx="4320000" cy="5904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52000" y="37476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21" name="drop_zone_3"/>
          <p:cNvSpPr/>
          <p:nvPr/>
        </p:nvSpPr>
        <p:spPr>
          <a:xfrm>
            <a:off x="6480000" y="4384800"/>
            <a:ext cx="4320000" cy="5904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52000" y="441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23" name="drop_zone_4"/>
          <p:cNvSpPr/>
          <p:nvPr/>
        </p:nvSpPr>
        <p:spPr>
          <a:xfrm>
            <a:off x="6480000" y="5047200"/>
            <a:ext cx="4320000" cy="5904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52000" y="50724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  <p:sp>
        <p:nvSpPr>
          <p:cNvPr id="25" name="drop_zone_5"/>
          <p:cNvSpPr/>
          <p:nvPr/>
        </p:nvSpPr>
        <p:spPr>
          <a:xfrm>
            <a:off x="6480000" y="5709600"/>
            <a:ext cx="4320000" cy="590400"/>
          </a:xfrm>
          <a:prstGeom prst="roundRect">
            <a:avLst/>
          </a:prstGeom>
          <a:solidFill>
            <a:srgbClr val="FAFBFC"/>
          </a:solidFill>
          <a:ln w="190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152000" y="57348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  <p:sp>
        <p:nvSpPr>
          <p:cNvPr id="2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المرونة مقابل القدرة على التكيف</a:t>
            </a:r>
          </a:p>
        </p:txBody>
      </p:sp>
      <p:sp>
        <p:nvSpPr>
          <p:cNvPr id="5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القدرة على التكيف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التطور والازدهار استجابة للتحولات الجذرية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تتعامل مع التغيرات طويلة الامد في البيئة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تتطلب اعادة تشكيل الاستراتيجيات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مثال: تحول نوكيا من الورق الى الاتصالات</a:t>
            </a:r>
          </a:p>
        </p:txBody>
      </p:sp>
      <p:sp>
        <p:nvSpPr>
          <p:cNvPr id="8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المرونة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القدرة على الاستجابة للتحديات او الفرص الفورية بكفاءة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تتعامل مع التغيرات قصيرة المدى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تتطلب سرعة في اتخاذ القرارات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مثال: تكيف المطاعم مع التوصيل اثناء كورونا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800000"/>
            <a:ext cx="28800" cy="36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تحديد فرص العمل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احتياجات العملاء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فهم ما يحتاجه العملاء فعلا وليس ما نظن انهم يحتاجونه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دراسة الجدوى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التأكد من ان المشروع قابل للتنفيذ تقنيا وماليا وعمليا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8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قابلية التوسع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امكانية نمو المشروع وتوسعه للوصول الى شريحة اكبر</a:t>
            </a:r>
          </a:p>
        </p:txBody>
      </p:sp>
      <p:sp>
        <p:nvSpPr>
          <p:cNvPr id="2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التكنولوجيا وملاءمة السوق</a:t>
            </a:r>
          </a:p>
        </p:txBody>
      </p:sp>
      <p:sp>
        <p:nvSpPr>
          <p:cNvPr id="5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ملاءمة السوق = ضمان تلبية المنتجات الرقمية لاحتياجات السوق الفعلية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التكنولوجيا يجب ان تتوافق مع احتياجات المستخدم لتحقيق النجاح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ملاءمة السوق ضرورية للتبني وقابلية التوسع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النهج التكراري يضمن مواءمة التكنولوجيا للسوق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الشركات الناجحة تعالج مشاكل العملاء الفعلية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النمذجة والتجريب واختبار A/B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2349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نماذج ورقية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رسومات تخطيطية سريعة على الورق لاختبار الافكار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3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3537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37000" y="1980000"/>
            <a:ext cx="2349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3717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نماذج رقمية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3717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نماذج برمجية تفاعلية باستخدام ادوات التصميم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6174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4000" y="1980000"/>
            <a:ext cx="2349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6354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نماذج مادية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6354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نماذج منتجات اولية ملموسة للاختبار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47000" y="2016000"/>
            <a:ext cx="2349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_4"/>
          <p:cNvSpPr/>
          <p:nvPr/>
        </p:nvSpPr>
        <p:spPr>
          <a:xfrm>
            <a:off x="8811000" y="1980000"/>
            <a:ext cx="2349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1000" y="1980000"/>
            <a:ext cx="2349000" cy="432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xt_card_4_title"/>
          <p:cNvSpPr txBox="1"/>
          <p:nvPr/>
        </p:nvSpPr>
        <p:spPr>
          <a:xfrm>
            <a:off x="8991000" y="2412000"/>
            <a:ext cx="1989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E2841"/>
                </a:solidFill>
                <a:cs typeface="Tajawal ExtraBold"/>
                <a:latin typeface="Tajawal ExtraBold"/>
                <a:ea typeface="Tajawal ExtraBold"/>
              </a:rPr>
              <a:t>اختبار A/B</a:t>
            </a:r>
          </a:p>
        </p:txBody>
      </p:sp>
      <p:sp>
        <p:nvSpPr>
          <p:cNvPr id="24" name="txt_card_4_body"/>
          <p:cNvSpPr txBox="1"/>
          <p:nvPr/>
        </p:nvSpPr>
        <p:spPr>
          <a:xfrm>
            <a:off x="8991000" y="3060000"/>
            <a:ext cx="1989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مقارنة بين نسختين مختلفتين لمعرفة الانسب</a:t>
            </a:r>
          </a:p>
        </p:txBody>
      </p:sp>
      <p:sp>
        <p:nvSpPr>
          <p:cNvPr id="25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الهدف الرئيسي من اختبار A/B؟</a:t>
            </a:r>
          </a:p>
        </p:txBody>
      </p:sp>
      <p:sp>
        <p:nvSpPr>
          <p:cNvPr id="6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08000" y="2664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08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اختبار البرمجة فقط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08000" y="3456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08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المقارنة بين فكرتين لمعرفة الانسب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08000" y="4248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_c"/>
          <p:cNvSpPr/>
          <p:nvPr/>
        </p:nvSpPr>
        <p:spPr>
          <a:xfrm>
            <a:off x="1008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7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حذف المنتجات القديمة</a:t>
            </a:r>
          </a:p>
        </p:txBody>
      </p:sp>
      <p:sp>
        <p:nvSpPr>
          <p:cNvPr id="18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08000" y="5040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t_d"/>
          <p:cNvSpPr/>
          <p:nvPr/>
        </p:nvSpPr>
        <p:spPr>
          <a:xfrm>
            <a:off x="1008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21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تصميم الشعارات</a:t>
            </a:r>
          </a:p>
        </p:txBody>
      </p:sp>
      <p:sp>
        <p:nvSpPr>
          <p:cNvPr id="22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23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t_section_title"/>
          <p:cNvSpPr txBox="1"/>
          <p:nvPr/>
        </p:nvSpPr>
        <p:spPr>
          <a:xfrm>
            <a:off x="1440000" y="198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/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بناء عقلية ريادية</a:t>
            </a:r>
          </a:p>
        </p:txBody>
      </p:sp>
      <p:sp>
        <p:nvSpPr>
          <p:cNvPr id="4" name="divider_line"/>
          <p:cNvSpPr/>
          <p:nvPr/>
        </p:nvSpPr>
        <p:spPr>
          <a:xfrm>
            <a:off x="3240000" y="331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_section_subtitle"/>
          <p:cNvSpPr txBox="1"/>
          <p:nvPr/>
        </p:nvSpPr>
        <p:spPr>
          <a:xfrm>
            <a:off x="1440000" y="352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المحور الخامس: كيف تبني عقلية ريادة الاعمال؟</a:t>
            </a:r>
          </a:p>
        </p:txBody>
      </p:sp>
      <p:sp>
        <p:nvSpPr>
          <p:cNvPr id="6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كيفية بناء عقلية ريادية؟</a:t>
            </a:r>
          </a:p>
        </p:txBody>
      </p:sp>
      <p:sp>
        <p:nvSpPr>
          <p:cNvPr id="5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رؤية الفشل كفرصة للتعلم - كل محاولة فاشلة تقربك من النجاح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الانفتاح على التغذية الراجعة والتكيف مع النقد البناء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البقاء فضوليا والتحسين المستمر - لا تتوقف عن التعلم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ادوات ومصادر لرائد الاعمال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900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000" y="1980000"/>
            <a:ext cx="3228000" cy="432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card_1_title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Lean Startup</a:t>
            </a:r>
          </a:p>
        </p:txBody>
      </p:sp>
      <p:sp>
        <p:nvSpPr>
          <p:cNvPr id="9" name="txt_card_1_body"/>
          <p:cNvSpPr txBox="1"/>
          <p:nvPr/>
        </p:nvSpPr>
        <p:spPr>
          <a:xfrm>
            <a:off x="1080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منهجية الشركات الناشئة المرنة للتطوير السريع وبناء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2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_2"/>
          <p:cNvSpPr/>
          <p:nvPr/>
        </p:nvSpPr>
        <p:spPr>
          <a:xfrm>
            <a:off x="4416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156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000" y="1980000"/>
            <a:ext cx="3228000" cy="432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ard_2_title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Business Model Canvas</a:t>
            </a:r>
          </a:p>
        </p:txBody>
      </p:sp>
      <p:sp>
        <p:nvSpPr>
          <p:cNvPr id="14" name="txt_card_2_body"/>
          <p:cNvSpPr txBox="1"/>
          <p:nvPr/>
        </p:nvSpPr>
        <p:spPr>
          <a:xfrm>
            <a:off x="4596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نموذج العمل التجاري لهيكلة الافكار التجارية في صفحة واحدة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8000" y="2016000"/>
            <a:ext cx="3228000" cy="3240000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_3"/>
          <p:cNvSpPr/>
          <p:nvPr/>
        </p:nvSpPr>
        <p:spPr>
          <a:xfrm>
            <a:off x="7932000" y="1980000"/>
            <a:ext cx="3228000" cy="3240000"/>
          </a:xfrm>
          <a:prstGeom prst="roundRect">
            <a:avLst/>
          </a:prstGeom>
          <a:solidFill>
            <a:srgbClr val="FAFBFC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2000" y="1980000"/>
            <a:ext cx="3228000" cy="432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_card_3_title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التعلم المستمر</a:t>
            </a:r>
          </a:p>
        </p:txBody>
      </p:sp>
      <p:sp>
        <p:nvSpPr>
          <p:cNvPr id="19" name="txt_card_3_body"/>
          <p:cNvSpPr txBox="1"/>
          <p:nvPr/>
        </p:nvSpPr>
        <p:spPr>
          <a:xfrm>
            <a:off x="8112000" y="3060000"/>
            <a:ext cx="2868000" cy="19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منصات مثل Stanford Online و Coursera للتعلم المتخصص</a:t>
            </a:r>
          </a:p>
        </p:txBody>
      </p:sp>
      <p:sp>
        <p:nvSpPr>
          <p:cNvPr id="20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التغلب على تحديات الابتكار</a:t>
            </a:r>
          </a:p>
        </p:txBody>
      </p:sp>
      <p:sp>
        <p:nvSpPr>
          <p:cNvPr id="5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الحلول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تشجيع التجربة: خلق بيئة آمنة لتجربة اشياء جديدة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تعزيز ثقافة الانفتاح: تشجيع التواصل المفتوح للتعلم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الاحتفاء بالتعلم من الفشل</a:t>
            </a:r>
          </a:p>
        </p:txBody>
      </p:sp>
      <p:sp>
        <p:nvSpPr>
          <p:cNvPr id="8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التحديات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مقاومة التغيير امر شائع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الخوف من الفشل يمكن ان يعيق الابداع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800000"/>
            <a:ext cx="28800" cy="36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5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اي من التالية يعتبر من سمات العقلية الريادية؟</a:t>
            </a:r>
          </a:p>
        </p:txBody>
      </p:sp>
      <p:sp>
        <p:nvSpPr>
          <p:cNvPr id="6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08000" y="2664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08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الخوف من المخاطرة وتجنب التجارب الجديدة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08000" y="3456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pt_b"/>
          <p:cNvSpPr/>
          <p:nvPr/>
        </p:nvSpPr>
        <p:spPr>
          <a:xfrm>
            <a:off x="1008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3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رؤية الفشل كفرصة للتعلم والتحسين المستمر</a:t>
            </a:r>
          </a:p>
        </p:txBody>
      </p:sp>
      <p:sp>
        <p:nvSpPr>
          <p:cNvPr id="14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08000" y="4248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pt_c"/>
          <p:cNvSpPr/>
          <p:nvPr/>
        </p:nvSpPr>
        <p:spPr>
          <a:xfrm>
            <a:off x="1008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7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رفض التغذية الراجعة من الآخرين</a:t>
            </a:r>
          </a:p>
        </p:txBody>
      </p:sp>
      <p:sp>
        <p:nvSpPr>
          <p:cNvPr id="18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08000" y="5040000"/>
            <a:ext cx="72000" cy="68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pt_d"/>
          <p:cNvSpPr/>
          <p:nvPr/>
        </p:nvSpPr>
        <p:spPr>
          <a:xfrm>
            <a:off x="1008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21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التمسك بالخطة الاصلية دون اي تعديل</a:t>
            </a:r>
          </a:p>
        </p:txBody>
      </p:sp>
      <p:sp>
        <p:nvSpPr>
          <p:cNvPr id="22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  <p:sp>
        <p:nvSpPr>
          <p:cNvPr id="23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الذهنية الرقمية وممارسات الابتكار التقني الوحدة الثانية</a:t>
            </a:r>
          </a:p>
        </p:txBody>
      </p:sp>
      <p:pic>
        <p:nvPicPr>
          <p:cNvPr id="3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4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5" name="bg_summary_card"/>
          <p:cNvSpPr/>
          <p:nvPr/>
        </p:nvSpPr>
        <p:spPr>
          <a:xfrm>
            <a:off x="720000" y="1512000"/>
            <a:ext cx="10800000" cy="3780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0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xt_summary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الابتكار: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ايجاد حلول جديدة باستخدام تقنيات ابداعية مثل SCAMPER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ريادة الاعمال: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تحويل الافكار لمشاريع ناجحة تتطلب حل المشكلات والمرونة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التفكير التصميمي: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5 مراحل: التعاطف، التحديد، التفكير، النمذجة، الاختبار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ملاءمة السوق: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التكنولوجيا + احتياجات السوق + النمذجة + اختبار A/B</a:t>
            </a:r>
          </a:p>
          <a:p>
            <a:pPr algn="r" rtl="1">
              <a:lnSpc>
                <a:spcPct val="150000"/>
              </a:lnSpc>
              <a:spcAft>
                <a:spcPts val="800"/>
              </a:spcAft>
            </a:pPr>
            <a:r>
              <a:rPr sz="2000" b="1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العقلية الريادية: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الفشل فرصة، التغذية الراجعة ضرورية، التعلم مستمر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5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6" name="txt_next_steps"/>
          <p:cNvSpPr txBox="1"/>
          <p:nvPr/>
        </p:nvSpPr>
        <p:spPr>
          <a:xfrm>
            <a:off x="2160000" y="360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اكمال الانشطة التفاعلية المرتبطة بالوحدة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المشاركة في نشاط النقاش حول العقلية الرقمية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تطبيق التفكير التصميمي في حل مشكلة رقمية (الواجب)</a:t>
            </a:r>
          </a:p>
          <a:p>
            <a:pPr algn="r" rtl="1">
              <a:spcBef>
                <a:spcPts val="800"/>
              </a:spcBef>
              <a:spcAft>
                <a:spcPts val="16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الاستعداد للاختبار البعدي</a:t>
            </a:r>
          </a:p>
        </p:txBody>
      </p:sp>
      <p:sp>
        <p:nvSpPr>
          <p:cNvPr id="7" name="num_page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