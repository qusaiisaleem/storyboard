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شريحة العنوان - الذهنية الرقمية وممارسات الابتكار التقني</a:t>
            </a:r>
          </a:p>
          <a:p>
            <a:r>
              <a:t>Storyline: اضافة زر 'ابدأ المحاضرة' للانتقال للشريحة التالية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Storyline: عرض الاهداف بشكل متتابع مع تأثير ظهور تدريجي من اليمين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Storyline: عرض البطاقات الثلاث بشكل متتابع عند النقر</a:t>
            </a:r>
          </a:p>
          <a:p>
            <a:r>
              <a:t>تعليمات: انقر على كل بطاقة لعرض التفاصيل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Storyline: تفاعل Click-to-Reveal</a:t>
            </a:r>
          </a:p>
          <a:p>
            <a:r>
              <a:t>- اخفاء الاسماء والاوصاف في البداية</a:t>
            </a:r>
          </a:p>
          <a:p>
            <a:r>
              <a:t>- عند النقر على كل دائرة حرف، يظهر الاسم العربي والوصف</a:t>
            </a:r>
          </a:p>
          <a:p>
            <a:r>
              <a:t>- اضافة صوت نقر خفيف عند كل كشف</a:t>
            </a:r>
          </a:p>
          <a:p>
            <a:r>
              <a:t>- المثال التطبيقي يظهر بعد كشف جميع الحروف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Storyline: سؤال اختيار من متعدد</a:t>
            </a:r>
          </a:p>
          <a:p>
            <a:r>
              <a:t>- الاجابة الصحيحة: ب (E - Eliminate)</a:t>
            </a:r>
          </a:p>
          <a:p>
            <a:r>
              <a:t>- عند اختيار الاجابة الصحيحة: تلوين اخضر + رسالة 'احسنت!'</a:t>
            </a:r>
          </a:p>
          <a:p>
            <a:r>
              <a:t>- عند اختيار اجابة خاطئة: تلوين احمر + رسالة 'حاول مرة اخرى'</a:t>
            </a:r>
          </a:p>
          <a:p>
            <a:r>
              <a:t>- محاولتان مسموح بهما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Storyline: سؤال اختيار من متعدد</a:t>
            </a:r>
          </a:p>
          <a:p>
            <a:r>
              <a:t>الاجابة الصحيحة: ج - البرمجة بلغة Python ليست من المتطلبات الثلاثة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Storylline: عرض متتابع Sequential Reveal</a:t>
            </a:r>
          </a:p>
          <a:p>
            <a:r>
              <a:t>- المراحل تظهر واحدة تلو الاخرى</a:t>
            </a:r>
          </a:p>
          <a:p>
            <a:r>
              <a:t>- كل مرحلة تنزلق من الاسفل</a:t>
            </a:r>
          </a:p>
          <a:p>
            <a:r>
              <a:t>- السهم يظهر بين كل مرحلتين</a:t>
            </a:r>
          </a:p>
          <a:p>
            <a:r>
              <a:t>- في النهاية يظهر سهم دائري يدل على التكرارية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Storyline: Drag &amp; Drop</a:t>
            </a:r>
          </a:p>
          <a:p>
            <a:r>
              <a:t>- المراحل تظهر بشكل عشوائي في الاعلى</a:t>
            </a:r>
          </a:p>
          <a:p>
            <a:r>
              <a:t>- المتعلم يسحب كل مرحلة للخانة المناسبة</a:t>
            </a:r>
          </a:p>
          <a:p>
            <a:r>
              <a:t>- الترتيب الصحيح: التعاطف &gt; التحديد &gt; التفكير &gt; النموذج الاولي &gt; الاختبار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4592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4360" y="0"/>
            <a:ext cx="36576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0">
                <a:solidFill>
                  <a:srgbClr val="00B894"/>
                </a:solidFill>
                <a:latin typeface="Sakkal Majalla"/>
              </a:defRPr>
            </a:pPr>
            <a:r>
              <a:t>الوحدة الثانية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4400" b="1">
                <a:solidFill>
                  <a:srgbClr val="FFFFFF"/>
                </a:solidFill>
                <a:latin typeface="Sakkal Majalla"/>
              </a:defRPr>
            </a:pPr>
            <a:r>
              <a:t>الذهنية الرقمية وممارسات الابتكار التقني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8B95A8"/>
                </a:solidFill>
                <a:latin typeface="Calibri"/>
              </a:defRPr>
            </a:pPr>
            <a:r>
              <a:t>Digital Mindset &amp; Technology Innovation Practices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4206240"/>
            <a:ext cx="3931920" cy="274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486400"/>
            <a:ext cx="3017520" cy="64008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532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1">
                <a:solidFill>
                  <a:srgbClr val="FFFFFF"/>
                </a:solidFill>
                <a:latin typeface="Sakkal Majalla"/>
              </a:defRPr>
            </a:pPr>
            <a:r>
              <a:t>ابدأ المحاضرة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الاهداف التعليمية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A0B0C0"/>
                </a:solidFill>
                <a:latin typeface="Sakkal Majalla"/>
              </a:defRPr>
            </a:pPr>
            <a:r>
              <a:t>ما ستتعلمه في هذه الوحدة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1463040"/>
            <a:ext cx="1188720" cy="41148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14813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تذكر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ان يعدد المتعلم عناصر الابتكار الثلاثة وتقنيات العصف الذهني الاساسية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029968"/>
            <a:ext cx="118872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204825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فهم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4825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ان يوضح المتعلم مفهوم ريادة الاعمال وعلاقتها بالابتكار التقني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596896"/>
            <a:ext cx="118872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61518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فهم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1518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ان يشرح المتعلم المراحل الخمس للتفكير التصميمي ودور كل مرحلة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3163824"/>
            <a:ext cx="1188720" cy="411480"/>
          </a:xfrm>
          <a:prstGeom prst="round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1821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تطبيق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8211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ان يطبق المتعلم طريقة SCAMPER لتوليد افكار ابداعية جديدة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730752"/>
            <a:ext cx="1188720" cy="411480"/>
          </a:xfrm>
          <a:prstGeom prst="round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3749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تطبيق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ان يستخدم المتعلم مراحل التفكير التصميمي لبناء نموذج اولي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4297680"/>
            <a:ext cx="1188720" cy="411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43159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تحليل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1596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ان يحلل المتعلم العلاقة بين التكنولوجيا وملاءمة السوق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4864608"/>
            <a:ext cx="118872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48828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تقييم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8289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ان يقيم المتعلم فرص العمل الريادية بناء على معايير محددة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5431536"/>
            <a:ext cx="118872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544982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ابداع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4982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ان يصمم المتعلم حلا ابتكاريا لمشكلة رقمية واقعية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2 / 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محاور المحاضرة</a:t>
            </a:r>
          </a:p>
        </p:txBody>
      </p:sp>
      <p:sp>
        <p:nvSpPr>
          <p:cNvPr id="5" name="Oval 4"/>
          <p:cNvSpPr/>
          <p:nvPr/>
        </p:nvSpPr>
        <p:spPr>
          <a:xfrm>
            <a:off x="10241280" y="160020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200" b="0">
                <a:solidFill>
                  <a:srgbClr val="2D3436"/>
                </a:solidFill>
                <a:latin typeface="Sakkal Majalla"/>
              </a:defRPr>
            </a:pPr>
            <a:r>
              <a:t>ما هو الابتكار واهمية توليد الافكار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10058400" cy="9144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0" y="251460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200" b="0">
                <a:solidFill>
                  <a:srgbClr val="2D3436"/>
                </a:solidFill>
                <a:latin typeface="Sakkal Majalla"/>
              </a:defRPr>
            </a:pPr>
            <a:r>
              <a:t>ريادة الاعمال وعقلية الابتكار التقني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08960"/>
            <a:ext cx="10058400" cy="9144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0" y="342900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564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200" b="0">
                <a:solidFill>
                  <a:srgbClr val="2D3436"/>
                </a:solidFill>
                <a:latin typeface="Sakkal Majalla"/>
              </a:defRPr>
            </a:pPr>
            <a:r>
              <a:t>التفكير التصميمي ومراحله الخمس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23360"/>
            <a:ext cx="10058400" cy="9144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0" y="434340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708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200" b="0">
                <a:solidFill>
                  <a:srgbClr val="2D3436"/>
                </a:solidFill>
                <a:latin typeface="Sakkal Majalla"/>
              </a:defRPr>
            </a:pPr>
            <a:r>
              <a:t>المرونة والتكيف وملاءمة السوق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937760"/>
            <a:ext cx="10058400" cy="9144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0" y="525780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200" b="0">
                <a:solidFill>
                  <a:srgbClr val="2D3436"/>
                </a:solidFill>
                <a:latin typeface="Sakkal Majalla"/>
              </a:defRPr>
            </a:pPr>
            <a:r>
              <a:t>بناء عقلية ريادية والتغلب على التحديات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3 /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ما هو الابتكار؟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A0B0C0"/>
                </a:solidFill>
                <a:latin typeface="Sakkal Majalla"/>
              </a:defRPr>
            </a:pPr>
            <a:r>
              <a:t>المحور الاول: الاسس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463040"/>
            <a:ext cx="8686800" cy="91440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554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1">
                <a:solidFill>
                  <a:srgbClr val="007B83"/>
                </a:solidFill>
                <a:latin typeface="Sakkal Majalla"/>
              </a:defRPr>
            </a:pPr>
            <a:r>
              <a:t>الابتكار هو ايجاد حلول جديدة للمشاكل الواقعية باستخدام تقنيات جديدة او اساليب ابداعية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743200"/>
            <a:ext cx="32918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27432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68880" y="301752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6366F1"/>
                </a:solidFill>
                <a:latin typeface="Sakkal Majalla"/>
              </a:defRPr>
            </a:pPr>
            <a:r>
              <a:t>استخدام تقنيات جديدة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148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6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يتضمن الابتكار استخدام تقنيات</a:t>
            </a:r>
            <a:br/>
            <a:r>
              <a:t>جديدة او اساليب ابداعية</a:t>
            </a:r>
            <a:br/>
            <a:r>
              <a:t>لم تكن مستخدمة من قبل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743200"/>
            <a:ext cx="32918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274320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0" y="301752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FF6B35"/>
                </a:solidFill>
                <a:latin typeface="Sakkal Majalla"/>
              </a:defRPr>
            </a:pPr>
            <a:r>
              <a:t>تحسين الموجود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1148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6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الابتكار يقوم بتحسين العمليات</a:t>
            </a:r>
            <a:br/>
            <a:r>
              <a:t>او المنتجات او الخدمات</a:t>
            </a:r>
            <a:br/>
            <a:r>
              <a:t>الحالية وتطويرها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743200"/>
            <a:ext cx="32918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743200"/>
            <a:ext cx="1828800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84080" y="301752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00B894"/>
                </a:solidFill>
                <a:latin typeface="Sakkal Majalla"/>
              </a:defRPr>
            </a:pPr>
            <a:r>
              <a:t>حلول جديدة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1148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6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ايجاد حلول مبتكرة وجديدة</a:t>
            </a:r>
            <a:br/>
            <a:r>
              <a:t>للمشاكل الواقعية التي</a:t>
            </a:r>
            <a:br/>
            <a:r>
              <a:t>تواجه الافراد والمؤسسات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4 / 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اهمية توليد الافكار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1">
                <a:solidFill>
                  <a:srgbClr val="0A1628"/>
                </a:solidFill>
                <a:latin typeface="Sakkal Majalla"/>
              </a:defRPr>
            </a:pPr>
            <a:r>
              <a:t>اساس الابتكار هو توليد افكار متنوعة تتطلب التفكير خارج الصندوق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1">
                <a:solidFill>
                  <a:srgbClr val="00B894"/>
                </a:solidFill>
                <a:latin typeface="Sakkal Majalla"/>
              </a:defRPr>
            </a:pPr>
            <a:r>
              <a:t>تقنيات العصف الذهني: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601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99648" y="2880360"/>
            <a:ext cx="73152" cy="7315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0" y="297180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1">
                <a:solidFill>
                  <a:srgbClr val="0A1628"/>
                </a:solidFill>
                <a:latin typeface="Sakkal Majalla"/>
              </a:defRPr>
            </a:pPr>
            <a:r>
              <a:t>التواصل الحر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300" b="0">
                <a:solidFill>
                  <a:srgbClr val="8B95A8"/>
                </a:solidFill>
                <a:latin typeface="Sakkal Majalla"/>
              </a:defRPr>
            </a:pPr>
            <a:r>
              <a:t>دع الافكار تتدفق دون اصدار احكام - اطلق العنان للتفكير الابداعي بدون قيود او نقد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931920"/>
            <a:ext cx="9601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99648" y="4069080"/>
            <a:ext cx="73152" cy="7315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0" y="416052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77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1">
                <a:solidFill>
                  <a:srgbClr val="0A1628"/>
                </a:solidFill>
                <a:latin typeface="Sakkal Majalla"/>
              </a:defRPr>
            </a:pPr>
            <a:r>
              <a:t>الخرائط الذهنية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300" b="0">
                <a:solidFill>
                  <a:srgbClr val="8B95A8"/>
                </a:solidFill>
                <a:latin typeface="Sakkal Majalla"/>
              </a:defRPr>
            </a:pPr>
            <a:r>
              <a:t>اربط الافكار والمفاهيم بصريا - استخدم الرسومات والتفرعات لتنظيم الافكار وربطها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120640"/>
            <a:ext cx="9601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899648" y="5257800"/>
            <a:ext cx="73152" cy="7315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0" y="534924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166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1">
                <a:solidFill>
                  <a:srgbClr val="0A1628"/>
                </a:solidFill>
                <a:latin typeface="Sakkal Majalla"/>
              </a:defRPr>
            </a:pPr>
            <a:r>
              <a:t>طريقة SCAMPER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300" b="0">
                <a:solidFill>
                  <a:srgbClr val="8B95A8"/>
                </a:solidFill>
                <a:latin typeface="Sakkal Majalla"/>
              </a:defRPr>
            </a:pPr>
            <a:r>
              <a:t>اداة فعالة لتوليد افكار جديدة بشكل منهجي من خلال سبع تقنيات منظمة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5 / 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طريقة SCAMPER لتوليد الافكار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A0B0C0"/>
                </a:solidFill>
                <a:latin typeface="Sakkal Majalla"/>
              </a:defRPr>
            </a:pPr>
            <a:r>
              <a:t>تفاعلي: انقر على كل حرف لعرض التفاصيل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554480"/>
            <a:ext cx="914400" cy="9144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defRPr sz="1200" b="1">
                <a:solidFill>
                  <a:srgbClr val="E74C3C"/>
                </a:solidFill>
                <a:latin typeface="Sakkal Majalla"/>
              </a:defRPr>
            </a:pPr>
            <a:r>
              <a:t>استبدال</a:t>
            </a:r>
            <a:br/>
            <a:r>
              <a:t>Substitute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30000"/>
              </a:lnSpc>
              <a:defRPr sz="1100" b="0">
                <a:solidFill>
                  <a:srgbClr val="2D3436"/>
                </a:solidFill>
                <a:latin typeface="Sakkal Majalla"/>
              </a:defRPr>
            </a:pPr>
            <a:r>
              <a:t>ما الذي يمكن استبداله</a:t>
            </a:r>
            <a:br/>
            <a:r>
              <a:t>في المنتج او الخدمة؟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554480"/>
            <a:ext cx="914400" cy="9144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defRPr sz="1200" b="1">
                <a:solidFill>
                  <a:srgbClr val="F39C12"/>
                </a:solidFill>
                <a:latin typeface="Sakkal Majalla"/>
              </a:defRPr>
            </a:pPr>
            <a:r>
              <a:t>دمج</a:t>
            </a:r>
            <a:br/>
            <a:r>
              <a:t>Combine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383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30000"/>
              </a:lnSpc>
              <a:defRPr sz="1100" b="0">
                <a:solidFill>
                  <a:srgbClr val="2D3436"/>
                </a:solidFill>
                <a:latin typeface="Sakkal Majalla"/>
              </a:defRPr>
            </a:pPr>
            <a:r>
              <a:t>ما الذي يمكن دمجه</a:t>
            </a:r>
            <a:br/>
            <a:r>
              <a:t>مع عنصر آخر؟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1554480"/>
            <a:ext cx="914400" cy="9144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defRPr sz="1200" b="1">
                <a:solidFill>
                  <a:srgbClr val="27AE60"/>
                </a:solidFill>
                <a:latin typeface="Sakkal Majalla"/>
              </a:defRPr>
            </a:pPr>
            <a:r>
              <a:t>تكيف</a:t>
            </a:r>
            <a:br/>
            <a:r>
              <a:t>Adapt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83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30000"/>
              </a:lnSpc>
              <a:defRPr sz="1100" b="0">
                <a:solidFill>
                  <a:srgbClr val="2D3436"/>
                </a:solidFill>
                <a:latin typeface="Sakkal Majalla"/>
              </a:defRPr>
            </a:pPr>
            <a:r>
              <a:t>ما الذي يمكن تكييفه</a:t>
            </a:r>
            <a:br/>
            <a:r>
              <a:t>من مجال آخر؟</a:t>
            </a:r>
          </a:p>
        </p:txBody>
      </p:sp>
      <p:sp>
        <p:nvSpPr>
          <p:cNvPr id="15" name="Oval 14"/>
          <p:cNvSpPr/>
          <p:nvPr/>
        </p:nvSpPr>
        <p:spPr>
          <a:xfrm>
            <a:off x="5806440" y="1554480"/>
            <a:ext cx="914400" cy="9144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defRPr sz="1200" b="1">
                <a:solidFill>
                  <a:srgbClr val="2980B9"/>
                </a:solidFill>
                <a:latin typeface="Sakkal Majalla"/>
              </a:defRPr>
            </a:pPr>
            <a:r>
              <a:t>تعديل</a:t>
            </a:r>
            <a:br/>
            <a:r>
              <a:t>Modify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383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30000"/>
              </a:lnSpc>
              <a:defRPr sz="1100" b="0">
                <a:solidFill>
                  <a:srgbClr val="2D3436"/>
                </a:solidFill>
                <a:latin typeface="Sakkal Majalla"/>
              </a:defRPr>
            </a:pPr>
            <a:r>
              <a:t>ما الذي يمكن تعديله</a:t>
            </a:r>
            <a:br/>
            <a:r>
              <a:t>او تكبيره او تصغيره؟</a:t>
            </a:r>
          </a:p>
        </p:txBody>
      </p:sp>
      <p:sp>
        <p:nvSpPr>
          <p:cNvPr id="18" name="Oval 17"/>
          <p:cNvSpPr/>
          <p:nvPr/>
        </p:nvSpPr>
        <p:spPr>
          <a:xfrm>
            <a:off x="7452360" y="1554480"/>
            <a:ext cx="914400" cy="9144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defRPr sz="1200" b="1">
                <a:solidFill>
                  <a:srgbClr val="8E44AD"/>
                </a:solidFill>
                <a:latin typeface="Sakkal Majalla"/>
              </a:defRPr>
            </a:pPr>
            <a:r>
              <a:t>استخدام آخر</a:t>
            </a:r>
            <a:br/>
            <a:r>
              <a:t>Put to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383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30000"/>
              </a:lnSpc>
              <a:defRPr sz="1100" b="0">
                <a:solidFill>
                  <a:srgbClr val="2D3436"/>
                </a:solidFill>
                <a:latin typeface="Sakkal Majalla"/>
              </a:defRPr>
            </a:pPr>
            <a:r>
              <a:t>هل يمكن استخدامه</a:t>
            </a:r>
            <a:br/>
            <a:r>
              <a:t>في مكان آخر؟</a:t>
            </a:r>
          </a:p>
        </p:txBody>
      </p:sp>
      <p:sp>
        <p:nvSpPr>
          <p:cNvPr id="21" name="Oval 20"/>
          <p:cNvSpPr/>
          <p:nvPr/>
        </p:nvSpPr>
        <p:spPr>
          <a:xfrm>
            <a:off x="9098280" y="1554480"/>
            <a:ext cx="914400" cy="914400"/>
          </a:xfrm>
          <a:prstGeom prst="ellipse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defRPr sz="1200" b="1">
                <a:solidFill>
                  <a:srgbClr val="D35400"/>
                </a:solidFill>
                <a:latin typeface="Sakkal Majalla"/>
              </a:defRPr>
            </a:pPr>
            <a:r>
              <a:t>حذف</a:t>
            </a:r>
            <a:br/>
            <a:r>
              <a:t>Eliminate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383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30000"/>
              </a:lnSpc>
              <a:defRPr sz="1100" b="0">
                <a:solidFill>
                  <a:srgbClr val="2D3436"/>
                </a:solidFill>
                <a:latin typeface="Sakkal Majalla"/>
              </a:defRPr>
            </a:pPr>
            <a:r>
              <a:t>ما الذي يمكن حذفه</a:t>
            </a:r>
            <a:br/>
            <a:r>
              <a:t>او تبسيطه؟</a:t>
            </a:r>
          </a:p>
        </p:txBody>
      </p:sp>
      <p:sp>
        <p:nvSpPr>
          <p:cNvPr id="24" name="Oval 23"/>
          <p:cNvSpPr/>
          <p:nvPr/>
        </p:nvSpPr>
        <p:spPr>
          <a:xfrm>
            <a:off x="10744200" y="1554480"/>
            <a:ext cx="914400" cy="91440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defRPr sz="1200" b="1">
                <a:solidFill>
                  <a:srgbClr val="16A085"/>
                </a:solidFill>
                <a:latin typeface="Sakkal Majalla"/>
              </a:defRPr>
            </a:pPr>
            <a:r>
              <a:t>عكس</a:t>
            </a:r>
            <a:br/>
            <a:r>
              <a:t>Reverse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383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30000"/>
              </a:lnSpc>
              <a:defRPr sz="1100" b="0">
                <a:solidFill>
                  <a:srgbClr val="2D3436"/>
                </a:solidFill>
                <a:latin typeface="Sakkal Majalla"/>
              </a:defRPr>
            </a:pPr>
            <a:r>
              <a:t>ماذا لو عكسنا</a:t>
            </a:r>
            <a:br/>
            <a:r>
              <a:t>الترتيب او الاتجاه؟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4572000"/>
            <a:ext cx="9418320" cy="109728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46177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1">
                <a:solidFill>
                  <a:srgbClr val="B7950B"/>
                </a:solidFill>
                <a:latin typeface="Sakkal Majalla"/>
              </a:defRPr>
            </a:pPr>
            <a:r>
              <a:t>مثال تطبيقي: تطبيق SCAMPER على الهاتف الذكي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9377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200" b="0">
                <a:solidFill>
                  <a:srgbClr val="7D6B0D"/>
                </a:solidFill>
                <a:latin typeface="Sakkal Majalla"/>
              </a:defRPr>
            </a:pPr>
            <a:r>
              <a:t>استبدال: الازرار بشاشة لمس | دمج: هاتف + كاميرا + GPS | تكيف: تطبيقات من الحاسوب | حذف: لوحة المفاتيح الفعلية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60720"/>
            <a:ext cx="4572000" cy="822960"/>
          </a:xfrm>
          <a:prstGeom prst="roundRect">
            <a:avLst/>
          </a:prstGeom>
          <a:solidFill>
            <a:srgbClr val="FEF3E2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338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100" b="1">
                <a:solidFill>
                  <a:srgbClr val="FF6B35"/>
                </a:solidFill>
                <a:latin typeface="Sakkal Majalla"/>
              </a:defRPr>
            </a:pPr>
            <a:r>
              <a:t>تعليمات Storyline: Click to Reveal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1264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6020"/>
                </a:solidFill>
                <a:latin typeface="Sakkal Majalla"/>
              </a:defRPr>
            </a:pPr>
            <a:r>
              <a:t>اخفاء جميع الحروف في البداية. عند النقر على كل حرف يظهر الاسم العربي والوصف مع تأثير انزلاق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800" b="1">
                <a:solidFill>
                  <a:srgbClr val="00B894"/>
                </a:solidFill>
                <a:latin typeface="Sakkal Majalla"/>
              </a:defRPr>
            </a:pPr>
            <a:r>
              <a:t>اختبر معلوماتك (1/5)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400" b="1">
                <a:solidFill>
                  <a:srgbClr val="FFFFFF"/>
                </a:solidFill>
                <a:latin typeface="Sakkal Majalla"/>
              </a:defRPr>
            </a:pPr>
            <a:r>
              <a:t>ما هو الحرف الذي يمثل 'الحذف' في طريقة SCAMPER؟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56032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0" y="2651760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2670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7004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S - Substitute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42900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0" y="3520440"/>
            <a:ext cx="502920" cy="50292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35387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3872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E - Eliminate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29768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9760" y="4389120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44074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40740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M - Modify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166359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5257799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527608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27608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R - Reverse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00B894"/>
                </a:solidFill>
                <a:latin typeface="Sakkal Majalla"/>
              </a:defRPr>
            </a:pPr>
            <a:r>
              <a:t>الاجابة الصحيحة: 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ما هي ريادة الاعمال؟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463040"/>
            <a:ext cx="8686800" cy="82296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554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007B83"/>
                </a:solidFill>
                <a:latin typeface="Sakkal Majalla"/>
              </a:defRPr>
            </a:pPr>
            <a:r>
              <a:t>ريادة الاعمال هي تحويل الافكار الى مشاريع ناجحة من خلال تحديد الفرص والمخاطرة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32918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651760"/>
            <a:ext cx="18288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200" b="1">
                <a:solidFill>
                  <a:srgbClr val="27AE60"/>
                </a:solidFill>
                <a:latin typeface="Sakkal Majalla"/>
              </a:defRPr>
            </a:pPr>
            <a:r>
              <a:t>المرونة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6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القدرة على التكيف مع</a:t>
            </a:r>
            <a:br/>
            <a:r>
              <a:t>التغيرات والظروف</a:t>
            </a:r>
            <a:br/>
            <a:r>
              <a:t>المختلفة بسرعة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651760"/>
            <a:ext cx="32918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265176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200" b="1">
                <a:solidFill>
                  <a:srgbClr val="FF6B35"/>
                </a:solidFill>
                <a:latin typeface="Sakkal Majalla"/>
              </a:defRPr>
            </a:pPr>
            <a:r>
              <a:t>الابداع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6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التفكير بطرق غير تقليدية</a:t>
            </a:r>
            <a:br/>
            <a:r>
              <a:t>لايجاد حلول مبتكرة</a:t>
            </a:r>
            <a:br/>
            <a:r>
              <a:t>وفريدة من نوعها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651760"/>
            <a:ext cx="32918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265176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200" b="1">
                <a:solidFill>
                  <a:srgbClr val="6366F1"/>
                </a:solidFill>
                <a:latin typeface="Sakkal Majalla"/>
              </a:defRPr>
            </a:pPr>
            <a:r>
              <a:t>حل المشكلات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6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القدرة على تحديد المشكلات</a:t>
            </a:r>
            <a:br/>
            <a:r>
              <a:t>وتحليلها وايجاد</a:t>
            </a:r>
            <a:br/>
            <a:r>
              <a:t>حلول عملية فعالة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400" b="0">
                <a:solidFill>
                  <a:srgbClr val="8B95A8"/>
                </a:solidFill>
                <a:latin typeface="Sakkal Majalla"/>
              </a:defRPr>
            </a:pPr>
            <a:r>
              <a:t>رواد الاعمال يحددون الفرص ويخاطرون لتطوير منتجات او خدمات جديدة تحل مشكلات حقيقية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8 /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عقلية الابتكار التقني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A0B0C0"/>
                </a:solidFill>
                <a:latin typeface="Sakkal Majalla"/>
              </a:defRPr>
            </a:pPr>
            <a:r>
              <a:t>المحور الثاني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2D3436"/>
                </a:solidFill>
                <a:latin typeface="Sakkal Majalla"/>
              </a:defRPr>
            </a:pPr>
            <a:r>
              <a:t>عقلية الابتكار التقني هي القدرة على تطوير حلول ابداعية لمشاكل واقعية باستخدام التكنولوجيا، ولا تقتصر على شركات التكنولوجيا بل تنطبق على اي مجال يشهد تحولا رقميا.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560320"/>
            <a:ext cx="3017520" cy="73152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060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FFFFFF"/>
                </a:solidFill>
                <a:latin typeface="Sakkal Majalla"/>
              </a:defRPr>
            </a:pPr>
            <a:r>
              <a:t>المتطلبات الرئيسية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3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3291840" cy="54864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03120" y="4023360"/>
            <a:ext cx="502920" cy="502920"/>
          </a:xfrm>
          <a:prstGeom prst="ellipse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6C3AB2"/>
                </a:solidFill>
                <a:latin typeface="Sakkal Majalla"/>
              </a:defRPr>
            </a:pPr>
            <a:r>
              <a:t>التفكير التصميمي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200" b="0">
                <a:solidFill>
                  <a:srgbClr val="2D3436"/>
                </a:solidFill>
                <a:latin typeface="Sakkal Majalla"/>
              </a:defRPr>
            </a:pPr>
            <a:r>
              <a:t>فهم احتياجات المستخدم</a:t>
            </a:r>
            <a:br/>
            <a:r>
              <a:t>قبل تطوير الحلول الرقمية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291840" cy="54864"/>
          </a:xfrm>
          <a:prstGeom prst="rect">
            <a:avLst/>
          </a:prstGeom>
          <a:solidFill>
            <a:srgbClr val="C0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4023360"/>
            <a:ext cx="502920" cy="502920"/>
          </a:xfrm>
          <a:prstGeom prst="ellipse">
            <a:avLst/>
          </a:prstGeom>
          <a:solidFill>
            <a:srgbClr val="C0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C05A20"/>
                </a:solidFill>
                <a:latin typeface="Sakkal Majalla"/>
              </a:defRPr>
            </a:pPr>
            <a:r>
              <a:t>المرونة والقدرة على التكيف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37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200" b="0">
                <a:solidFill>
                  <a:srgbClr val="2D3436"/>
                </a:solidFill>
                <a:latin typeface="Sakkal Majalla"/>
              </a:defRPr>
            </a:pPr>
            <a:r>
              <a:t>الاستجابة للتغيرات</a:t>
            </a:r>
            <a:br/>
            <a:r>
              <a:t>التكنولوجية المتسارعة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84048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840480"/>
            <a:ext cx="3291840" cy="54864"/>
          </a:xfrm>
          <a:prstGeom prst="rect">
            <a:avLst/>
          </a:prstGeom>
          <a:solidFill>
            <a:srgbClr val="1A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0" y="4023360"/>
            <a:ext cx="502920" cy="502920"/>
          </a:xfrm>
          <a:prstGeom prst="ellipse">
            <a:avLst/>
          </a:prstGeom>
          <a:solidFill>
            <a:srgbClr val="1A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1A735C"/>
                </a:solidFill>
                <a:latin typeface="Sakkal Majalla"/>
              </a:defRPr>
            </a:pPr>
            <a:r>
              <a:t>ملاءمة التكنولوجيا للسوق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937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200" b="0">
                <a:solidFill>
                  <a:srgbClr val="2D3436"/>
                </a:solidFill>
                <a:latin typeface="Sakkal Majalla"/>
              </a:defRPr>
            </a:pPr>
            <a:r>
              <a:t>ضمان تلبية المنتجات</a:t>
            </a:r>
            <a:br/>
            <a:r>
              <a:t>لاحتياجات السوق الفعلية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9 / 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800" b="1">
                <a:solidFill>
                  <a:srgbClr val="00B894"/>
                </a:solidFill>
                <a:latin typeface="Sakkal Majalla"/>
              </a:defRPr>
            </a:pPr>
            <a:r>
              <a:t>اختبر معلوماتك (2/5)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400" b="1">
                <a:solidFill>
                  <a:srgbClr val="FFFFFF"/>
                </a:solidFill>
                <a:latin typeface="Sakkal Majalla"/>
              </a:defRPr>
            </a:pPr>
            <a:r>
              <a:t>اي من التالية ليست من المتطلبات الرئيسية لعقلية الابتكار التقني؟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56032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0" y="2651760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2670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7004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التفكير التصميمي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42900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0" y="3520440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35387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3872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المرونة والقدرة على التكيف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29768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9760" y="4389120"/>
            <a:ext cx="502920" cy="50292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44074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40740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البرمجة بلغة 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166359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5257799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527608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27608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ملاءمة التكنولوجيا للسوق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00B894"/>
                </a:solidFill>
                <a:latin typeface="Sakkal Majalla"/>
              </a:defRPr>
            </a:pPr>
            <a:r>
              <a:t>الاجابة الصحيحة: 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3AB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BBA0E0"/>
                </a:solidFill>
                <a:latin typeface="Sakkal Majalla"/>
              </a:defRPr>
            </a:pPr>
            <a:r>
              <a:t>المحور الثالث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5200" b="1">
                <a:solidFill>
                  <a:srgbClr val="FFFFFF"/>
                </a:solidFill>
                <a:latin typeface="Sakkal Majalla"/>
              </a:defRPr>
            </a:pPr>
            <a:r>
              <a:t>التفكير التصميمي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400" b="0">
                <a:solidFill>
                  <a:srgbClr val="BBA0E0"/>
                </a:solidFill>
                <a:latin typeface="Calibri"/>
              </a:defRPr>
            </a:pPr>
            <a:r>
              <a:t>Design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D0C0EE"/>
                </a:solidFill>
                <a:latin typeface="Sakkal Majalla"/>
              </a:defRPr>
            </a:pPr>
            <a:r>
              <a:t>نهج ابتكاري متمحور حول الانسان يستخدمه شركات مثل جوجل وآبل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ما هو التفكير التصميمي؟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601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99648" y="1737360"/>
            <a:ext cx="73152" cy="594360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49840" y="1783080"/>
            <a:ext cx="502920" cy="502920"/>
          </a:xfrm>
          <a:prstGeom prst="ellipse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2D3436"/>
                </a:solidFill>
                <a:latin typeface="Sakkal Majalla"/>
              </a:defRPr>
            </a:pPr>
            <a:r>
              <a:t>نهج ابتكاري متمحور حول الانسان لحل المشكلات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651760"/>
            <a:ext cx="9601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99648" y="2743200"/>
            <a:ext cx="73152" cy="594360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49840" y="2788920"/>
            <a:ext cx="502920" cy="502920"/>
          </a:xfrm>
          <a:prstGeom prst="ellipse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88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2D3436"/>
                </a:solidFill>
                <a:latin typeface="Sakkal Majalla"/>
              </a:defRPr>
            </a:pPr>
            <a:r>
              <a:t>يركز على فهم احتياجات المستخدم قبل تطوير الحلول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657600"/>
            <a:ext cx="9601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99648" y="3749040"/>
            <a:ext cx="73152" cy="594360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49840" y="3794760"/>
            <a:ext cx="502920" cy="502920"/>
          </a:xfrm>
          <a:prstGeom prst="ellipse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94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2D3436"/>
                </a:solidFill>
                <a:latin typeface="Sakkal Majalla"/>
              </a:defRPr>
            </a:pPr>
            <a:r>
              <a:t>يستخدم النهج التكراري: بناء الافكار واختبارها وتحسينها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663440"/>
            <a:ext cx="9601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899648" y="4754880"/>
            <a:ext cx="73152" cy="594360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0" y="4800600"/>
            <a:ext cx="502920" cy="502920"/>
          </a:xfrm>
          <a:prstGeom prst="ellipse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00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2D3436"/>
                </a:solidFill>
                <a:latin typeface="Sakkal Majalla"/>
              </a:defRPr>
            </a:pPr>
            <a:r>
              <a:t>يستخدم من قبل شركات عالمية رائدة مثل جوجل وآبل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486400"/>
            <a:ext cx="8503920" cy="64008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C3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55321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400" b="1">
                <a:solidFill>
                  <a:srgbClr val="6C3AB2"/>
                </a:solidFill>
                <a:latin typeface="Sakkal Majalla"/>
              </a:defRPr>
            </a:pPr>
            <a:r>
              <a:t>التفكير التصميمي ليس مجرد منهجية بل هو عقلية تضع الانسان في مركز كل قرار تصميمي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12 / 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المراحل الخمس للتفكير التصميمي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A0B0C0"/>
                </a:solidFill>
                <a:latin typeface="Sakkal Majalla"/>
              </a:defRPr>
            </a:pPr>
            <a:r>
              <a:t>تفاعلي: انقر على كل مرحلة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0116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0116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210312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1">
                <a:solidFill>
                  <a:srgbClr val="E74C3C"/>
                </a:solidFill>
                <a:latin typeface="Sakkal Majalla"/>
              </a:defRPr>
            </a:pPr>
            <a:r>
              <a:t>التعاطف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فهم احتياجات</a:t>
            </a:r>
            <a:br/>
            <a:r>
              <a:t>المستخدم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0">
                <a:solidFill>
                  <a:srgbClr val="8B95A8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20116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828800"/>
            <a:ext cx="201168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29000" y="210312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1">
                <a:solidFill>
                  <a:srgbClr val="F39C12"/>
                </a:solidFill>
                <a:latin typeface="Sakkal Majalla"/>
              </a:defRPr>
            </a:pPr>
            <a:r>
              <a:t>التحديد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474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توضيح وتعريف</a:t>
            </a:r>
            <a:br/>
            <a:r>
              <a:t>المشكلة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0">
                <a:solidFill>
                  <a:srgbClr val="8B95A8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828800"/>
            <a:ext cx="20116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828800"/>
            <a:ext cx="201168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5000" y="210312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1">
                <a:solidFill>
                  <a:srgbClr val="27AE60"/>
                </a:solidFill>
                <a:latin typeface="Sakkal Majalla"/>
              </a:defRPr>
            </a:pPr>
            <a:r>
              <a:t>التفكير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474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توليد حلول</a:t>
            </a:r>
            <a:br/>
            <a:r>
              <a:t>متعددة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0">
                <a:solidFill>
                  <a:srgbClr val="8B95A8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828800"/>
            <a:ext cx="20116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1828800"/>
            <a:ext cx="201168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01000" y="2103120"/>
            <a:ext cx="640080" cy="64008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1">
                <a:solidFill>
                  <a:srgbClr val="2980B9"/>
                </a:solidFill>
                <a:latin typeface="Sakkal Majalla"/>
              </a:defRPr>
            </a:pPr>
            <a:r>
              <a:t>النموذج الاولي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474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بناء نماذج</a:t>
            </a:r>
            <a:br/>
            <a:r>
              <a:t>بسيطة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0">
                <a:solidFill>
                  <a:srgbClr val="8B95A8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828800"/>
            <a:ext cx="20116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1828800"/>
            <a:ext cx="2011680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87000" y="210312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1">
                <a:solidFill>
                  <a:srgbClr val="8E44AD"/>
                </a:solidFill>
                <a:latin typeface="Sakkal Majalla"/>
              </a:defRPr>
            </a:pPr>
            <a:r>
              <a:t>الاختبار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474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تقييم الحل</a:t>
            </a:r>
            <a:br/>
            <a:r>
              <a:t>وتحسينه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029200"/>
            <a:ext cx="5029200" cy="822960"/>
          </a:xfrm>
          <a:prstGeom prst="roundRect">
            <a:avLst/>
          </a:prstGeom>
          <a:solidFill>
            <a:srgbClr val="FEF3E2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1023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100" b="1">
                <a:solidFill>
                  <a:srgbClr val="FF6B35"/>
                </a:solidFill>
                <a:latin typeface="Sakkal Majalla"/>
              </a:defRPr>
            </a:pPr>
            <a:r>
              <a:t>تعليمات Storyline: Sequential Reveal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394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6020"/>
                </a:solidFill>
                <a:latin typeface="Sakkal Majalla"/>
              </a:defRPr>
            </a:pPr>
            <a:r>
              <a:t>عرض المراحل بشكل متتابع. عند النقر تظهر كل مرحلة مع تأثير انزلاق من الاسفل. السهم يظهر بين كل مرحلتين.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1206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300" b="0">
                <a:solidFill>
                  <a:srgbClr val="8B95A8"/>
                </a:solidFill>
                <a:latin typeface="Sakkal Majalla"/>
              </a:defRPr>
            </a:pPr>
            <a:r>
              <a:t>ملاحظة: هذه المراحل ليست خطية - يمكن العودة والتكرار بين المراحل حسب الحاجة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13 / 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التعاطف وتحديد الاحتياجات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A0B0C0"/>
                </a:solidFill>
                <a:latin typeface="Sakkal Majalla"/>
              </a:defRPr>
            </a:pPr>
            <a:r>
              <a:t>المرحلة الاولى من التفكير التصميمي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1">
                <a:solidFill>
                  <a:srgbClr val="0A1628"/>
                </a:solidFill>
                <a:latin typeface="Sakkal Majalla"/>
              </a:defRPr>
            </a:pPr>
            <a:r>
              <a:t>تحديد احتياجات المستخدم الحقيقية هو اساس الابتكار الهادف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0">
                <a:solidFill>
                  <a:srgbClr val="2D3436"/>
                </a:solidFill>
                <a:latin typeface="Sakkal Majalla"/>
              </a:defRPr>
            </a:pPr>
            <a:r>
              <a:t>التعاطف يساعد المصممين على فهم نقاط الضعف والاحتياجات الحقيقية للمستخدمين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1">
                <a:solidFill>
                  <a:srgbClr val="6C3AB2"/>
                </a:solidFill>
                <a:latin typeface="Sakkal Majalla"/>
              </a:defRPr>
            </a:pPr>
            <a:r>
              <a:t>اساليب تحديد الاحتياجات: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91840"/>
            <a:ext cx="3291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3291840"/>
            <a:ext cx="18288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68880" y="35204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E74C3C"/>
                </a:solidFill>
                <a:latin typeface="Sakkal Majalla"/>
              </a:defRPr>
            </a:pPr>
            <a:r>
              <a:t>الملاحظة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ملاحظة كيفية استخدام الناس</a:t>
            </a:r>
            <a:br/>
            <a:r>
              <a:t>للمنتجات في الحياة الواقعية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291840"/>
            <a:ext cx="3291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3291840"/>
            <a:ext cx="182880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0" y="3520440"/>
            <a:ext cx="502920" cy="5029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2980B9"/>
                </a:solidFill>
                <a:latin typeface="Sakkal Majalla"/>
              </a:defRPr>
            </a:pPr>
            <a:r>
              <a:t>المقابلات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المشاركة في مقابلات مع</a:t>
            </a:r>
            <a:br/>
            <a:r>
              <a:t>المستخدمين للتعرف على</a:t>
            </a:r>
            <a:br/>
            <a:r>
              <a:t>وجهات نظرهم الشخصية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291840"/>
            <a:ext cx="3291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3291840"/>
            <a:ext cx="18288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84080" y="352044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27AE60"/>
                </a:solidFill>
                <a:latin typeface="Sakkal Majalla"/>
              </a:defRPr>
            </a:pPr>
            <a:r>
              <a:t>استطلاعات الرأي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اجراء استطلاعات رأي</a:t>
            </a:r>
            <a:br/>
            <a:r>
              <a:t>لجمع آراء المستخدمين</a:t>
            </a:r>
            <a:br/>
            <a:r>
              <a:t>بشكل واسع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14 / 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التحديد والتفكير والنمذجة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A0B0C0"/>
                </a:solidFill>
                <a:latin typeface="Sakkal Majalla"/>
              </a:defRPr>
            </a:pPr>
            <a:r>
              <a:t>المراحل 2 و 3 و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96012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99648" y="1600200"/>
            <a:ext cx="73152" cy="1097280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1600200"/>
            <a:ext cx="502920" cy="502920"/>
          </a:xfrm>
          <a:prstGeom prst="ellipse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54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1">
                <a:solidFill>
                  <a:srgbClr val="6C3AB2"/>
                </a:solidFill>
                <a:latin typeface="Sakkal Majalla"/>
              </a:defRPr>
            </a:pPr>
            <a:r>
              <a:t>التحديد (عرف)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65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توضيح وتعريف المشكلة بدقة بعد فهم</a:t>
            </a:r>
            <a:br/>
            <a:r>
              <a:t>احتياجات المستخدم. صياغة المشكلة بشكل</a:t>
            </a:r>
            <a:br/>
            <a:r>
              <a:t>واضح يساعد في توجيه الحلول.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108960"/>
            <a:ext cx="96012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99648" y="3246120"/>
            <a:ext cx="731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49840" y="324612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00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1">
                <a:solidFill>
                  <a:srgbClr val="27AE60"/>
                </a:solidFill>
                <a:latin typeface="Sakkal Majalla"/>
              </a:defRPr>
            </a:pPr>
            <a:r>
              <a:t>التفكير (التصور)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611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تبادل الافكار وتوليد حلول متعددة.</a:t>
            </a:r>
            <a:br/>
            <a:r>
              <a:t>الهدف هو الكم وليس الكيف في هذه</a:t>
            </a:r>
            <a:br/>
            <a:r>
              <a:t>المرحلة - كلما زادت الافكار كان افضل.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754880"/>
            <a:ext cx="96012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99648" y="4892040"/>
            <a:ext cx="73152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49840" y="4892040"/>
            <a:ext cx="502920" cy="5029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46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1">
                <a:solidFill>
                  <a:srgbClr val="2980B9"/>
                </a:solidFill>
                <a:latin typeface="Sakkal Majalla"/>
              </a:defRPr>
            </a:pPr>
            <a:r>
              <a:t>النموذج الاولي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257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بناء نماذج بسيطة واختبارها.</a:t>
            </a:r>
            <a:br/>
            <a:r>
              <a:t>لا تحتاج لان تكون مثالية - الهدف هو</a:t>
            </a:r>
            <a:br/>
            <a:r>
              <a:t>اختبار الفكرة بسرعة وبأقل تكلفة.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15 / 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الاختبار والتكرار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A0B0C0"/>
                </a:solidFill>
                <a:latin typeface="Sakkal Majalla"/>
              </a:defRPr>
            </a:pPr>
            <a:r>
              <a:t>المرحلة الخامسة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1">
                <a:solidFill>
                  <a:srgbClr val="0A1628"/>
                </a:solidFill>
                <a:latin typeface="Sakkal Majalla"/>
              </a:defRPr>
            </a:pPr>
            <a:r>
              <a:t>المرحلة الاخيرة: تقييم الحل وتحسينه من خلال التجربة والتكرار المستمر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60320"/>
            <a:ext cx="164592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200" b="1">
                <a:solidFill>
                  <a:srgbClr val="2980B9"/>
                </a:solidFill>
                <a:latin typeface="Sakkal Majalla"/>
              </a:defRPr>
            </a:pPr>
            <a:r>
              <a:t>بناء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بناء النموذج</a:t>
            </a:r>
            <a:br/>
            <a:r>
              <a:t>الاولي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 b="0">
                <a:solidFill>
                  <a:srgbClr val="8B95A8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56032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2560320"/>
            <a:ext cx="16459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200" b="1">
                <a:solidFill>
                  <a:srgbClr val="27AE60"/>
                </a:solidFill>
                <a:latin typeface="Sakkal Majalla"/>
              </a:defRPr>
            </a:pPr>
            <a:r>
              <a:t>اختبار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83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اختبار النموذج</a:t>
            </a:r>
            <a:br/>
            <a:r>
              <a:t>مع المستخدمين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 b="0">
                <a:solidFill>
                  <a:srgbClr val="8B95A8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2560320"/>
            <a:ext cx="16459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834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200" b="1">
                <a:solidFill>
                  <a:srgbClr val="F39C12"/>
                </a:solidFill>
                <a:latin typeface="Sakkal Majalla"/>
              </a:defRPr>
            </a:pPr>
            <a:r>
              <a:t>صقل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تحسين النموذج</a:t>
            </a:r>
            <a:br/>
            <a:r>
              <a:t>بناء على الملاحظات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 b="0">
                <a:solidFill>
                  <a:srgbClr val="8B95A8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56032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560320"/>
            <a:ext cx="16459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834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200" b="1">
                <a:solidFill>
                  <a:srgbClr val="8E44AD"/>
                </a:solidFill>
                <a:latin typeface="Sakkal Majalla"/>
              </a:defRPr>
            </a:pPr>
            <a:r>
              <a:t>تكرار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383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تكرار العملية</a:t>
            </a:r>
            <a:br/>
            <a:r>
              <a:t>حتى الوصول للحل الامثل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029200"/>
            <a:ext cx="8503920" cy="9144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C3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507492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500" b="0">
                <a:solidFill>
                  <a:srgbClr val="6C3AB2"/>
                </a:solidFill>
                <a:latin typeface="Sakkal Majalla"/>
              </a:defRPr>
            </a:pPr>
            <a:r>
              <a:t>التفكير التصميمي عملية تكرارية وليست خطية - يمكنك العودة لاي مرحلة سابقة في اي وقت بناء على نتائج الاختبار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16 / 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800" b="1">
                <a:solidFill>
                  <a:srgbClr val="00B894"/>
                </a:solidFill>
                <a:latin typeface="Sakkal Majalla"/>
              </a:defRPr>
            </a:pPr>
            <a:r>
              <a:t>اختبر معلوماتك (3/5)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200" b="1">
                <a:solidFill>
                  <a:srgbClr val="FFFFFF"/>
                </a:solidFill>
                <a:latin typeface="Sakkal Majalla"/>
              </a:defRPr>
            </a:pPr>
            <a:r>
              <a:t>رتب المراحل الخمس للتفكير التصميمي بالترتيب الصحيح: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1828800" cy="64008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النموذج الاولي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86000"/>
            <a:ext cx="1828800" cy="64008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331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التعاطف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286000"/>
            <a:ext cx="1828800" cy="64008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331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الاختبار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286000"/>
            <a:ext cx="1828800" cy="64008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331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التحديد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286000"/>
            <a:ext cx="1828800" cy="64008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331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التفكير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657600"/>
            <a:ext cx="1828800" cy="640080"/>
          </a:xfrm>
          <a:prstGeom prst="roundRect">
            <a:avLst/>
          </a:prstGeom>
          <a:solidFill>
            <a:srgbClr val="152540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0">
                <a:solidFill>
                  <a:srgbClr val="00B894"/>
                </a:solidFill>
                <a:latin typeface="Sakkal Majalla"/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657600"/>
            <a:ext cx="1828800" cy="640080"/>
          </a:xfrm>
          <a:prstGeom prst="roundRect">
            <a:avLst/>
          </a:prstGeom>
          <a:solidFill>
            <a:srgbClr val="152540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0">
                <a:solidFill>
                  <a:srgbClr val="00B894"/>
                </a:solidFill>
                <a:latin typeface="Sakkal Majalla"/>
              </a:defRPr>
            </a:pPr>
            <a: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3657600"/>
            <a:ext cx="1828800" cy="640080"/>
          </a:xfrm>
          <a:prstGeom prst="roundRect">
            <a:avLst/>
          </a:prstGeom>
          <a:solidFill>
            <a:srgbClr val="152540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0">
                <a:solidFill>
                  <a:srgbClr val="00B894"/>
                </a:solidFill>
                <a:latin typeface="Sakkal Majalla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3657600"/>
            <a:ext cx="1828800" cy="640080"/>
          </a:xfrm>
          <a:prstGeom prst="roundRect">
            <a:avLst/>
          </a:prstGeom>
          <a:solidFill>
            <a:srgbClr val="152540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0">
                <a:solidFill>
                  <a:srgbClr val="00B894"/>
                </a:solidFill>
                <a:latin typeface="Sakkal Majalla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3657600"/>
            <a:ext cx="1828800" cy="640080"/>
          </a:xfrm>
          <a:prstGeom prst="roundRect">
            <a:avLst/>
          </a:prstGeom>
          <a:solidFill>
            <a:srgbClr val="152540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0">
                <a:solidFill>
                  <a:srgbClr val="00B894"/>
                </a:solidFill>
                <a:latin typeface="Sakkal Majalla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0">
                <a:solidFill>
                  <a:srgbClr val="00B894"/>
                </a:solidFill>
                <a:latin typeface="Sakkal Majalla"/>
              </a:defRPr>
            </a:pPr>
            <a:r>
              <a:t>الترتيب الصحيح: 1-التعاطف  2-التحديد  3-التفكير  4-النموذج الاولي  5-الاختبار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303520"/>
            <a:ext cx="5029200" cy="731520"/>
          </a:xfrm>
          <a:prstGeom prst="roundRect">
            <a:avLst/>
          </a:prstGeom>
          <a:solidFill>
            <a:srgbClr val="FEF3E2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376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100" b="1">
                <a:solidFill>
                  <a:srgbClr val="FF6B35"/>
                </a:solidFill>
                <a:latin typeface="Sakkal Majalla"/>
              </a:defRPr>
            </a:pPr>
            <a:r>
              <a:t>تعليمات Storyline: Drag &amp; Drop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69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6020"/>
                </a:solidFill>
                <a:latin typeface="Sakkal Majalla"/>
              </a:defRPr>
            </a:pPr>
            <a:r>
              <a:t>يسحب المتعلم كل مرحلة ويضعها في الخانة المناسبة. تلوين اخضر للصحيح واحمر للخطأ.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0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المرونة مقابل القدرة على التكيف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A0B0C0"/>
                </a:solidFill>
                <a:latin typeface="Sakkal Majalla"/>
              </a:defRPr>
            </a:pPr>
            <a:r>
              <a:t>المحور الرابع: تفاعلي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400" b="1">
                <a:solidFill>
                  <a:srgbClr val="FF6B35"/>
                </a:solidFill>
                <a:latin typeface="Sakkal Majalla"/>
              </a:defRPr>
            </a:pPr>
            <a:r>
              <a:t>القدرة على التكيف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• القدرة على التطور والازدهار استجابة للتحولات الجذرية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• تتعامل مع التغيرات طويلة الامد في البيئة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• تتطلب اعادة تشكيل الاستراتيجيات والنماذج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• مثال: تحول نوكيا من الورق الى الاتصالات</a:t>
            </a:r>
          </a:p>
        </p:txBody>
      </p:sp>
      <p:sp>
        <p:nvSpPr>
          <p:cNvPr id="13" name="Oval 12"/>
          <p:cNvSpPr/>
          <p:nvPr/>
        </p:nvSpPr>
        <p:spPr>
          <a:xfrm>
            <a:off x="5577840" y="3108960"/>
            <a:ext cx="1005840" cy="10058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50292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502920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400" b="1">
                <a:solidFill>
                  <a:srgbClr val="00B894"/>
                </a:solidFill>
                <a:latin typeface="Sakkal Majalla"/>
              </a:defRPr>
            </a:pPr>
            <a:r>
              <a:t>المرونة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5603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• القدرة على الاستجابة للتحديات او الفرص الفورية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2461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• تتعامل مع التغيرات قصيرة المدى بكفاءة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9319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• تتطلب سرعة في اتخاذ القرارات والتنفيذ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6177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• مثال: تكيف المطاعم مع التوصيل اثناء كورونا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5029200" cy="731520"/>
          </a:xfrm>
          <a:prstGeom prst="roundRect">
            <a:avLst/>
          </a:prstGeom>
          <a:solidFill>
            <a:srgbClr val="FEF3E2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742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100" b="1">
                <a:solidFill>
                  <a:srgbClr val="FF6B35"/>
                </a:solidFill>
                <a:latin typeface="Sakkal Majalla"/>
              </a:defRPr>
            </a:pPr>
            <a:r>
              <a:t>تعليمات Storyline: Comparison Reveal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035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6020"/>
                </a:solidFill>
                <a:latin typeface="Sakkal Majalla"/>
              </a:defRPr>
            </a:pPr>
            <a:r>
              <a:t>اظهار كل عمود عند النقر عليه. البطاقة اليمنى تظهر اولا ثم اليسرى مع تأثير انزلاق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18 / 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0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تحديد فرص العمل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1">
                <a:solidFill>
                  <a:srgbClr val="0A1628"/>
                </a:solidFill>
                <a:latin typeface="Sakkal Majalla"/>
              </a:defRPr>
            </a:pPr>
            <a:r>
              <a:t>الفكرة يجب ان تحظى بطلب في السوق لتكون مشروعا قابلا للاستمرار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0">
                <a:solidFill>
                  <a:srgbClr val="2D3436"/>
                </a:solidFill>
                <a:latin typeface="Sakkal Majalla"/>
              </a:defRPr>
            </a:pPr>
            <a:r>
              <a:t>فرصة العمل الجيدة تحل مشكلة حقيقية يواجهها الناس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26080"/>
            <a:ext cx="32918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926080"/>
            <a:ext cx="1828800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68880" y="320040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00B894"/>
                </a:solidFill>
                <a:latin typeface="Sakkal Majalla"/>
              </a:defRPr>
            </a:pPr>
            <a:r>
              <a:t>احتياجات العملاء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297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فهم ما يحتاجه العملاء</a:t>
            </a:r>
            <a:br/>
            <a:r>
              <a:t>فعلا وليس ما نظن</a:t>
            </a:r>
            <a:br/>
            <a:r>
              <a:t>انهم يحتاجونه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926080"/>
            <a:ext cx="32918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292608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320040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FF6B35"/>
                </a:solidFill>
                <a:latin typeface="Sakkal Majalla"/>
              </a:defRPr>
            </a:pPr>
            <a:r>
              <a:t>دراسة الجدوى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297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التأكد من ان المشروع</a:t>
            </a:r>
            <a:br/>
            <a:r>
              <a:t>قابل للتنفيذ تقنيا</a:t>
            </a:r>
            <a:br/>
            <a:r>
              <a:t>وماليا وعمليا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926080"/>
            <a:ext cx="32918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92608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0" y="320040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6366F1"/>
                </a:solidFill>
                <a:latin typeface="Sakkal Majalla"/>
              </a:defRPr>
            </a:pPr>
            <a:r>
              <a:t>قابلية التوسع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297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امكانية نمو المشروع</a:t>
            </a:r>
            <a:br/>
            <a:r>
              <a:t>وتوسعه للوصول الى</a:t>
            </a:r>
            <a:br/>
            <a:r>
              <a:t>شريحة اكبر من العملاء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19 / 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0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التكنولوجيا وملاءمة السوق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463040"/>
            <a:ext cx="8686800" cy="822960"/>
          </a:xfrm>
          <a:prstGeom prst="roundRect">
            <a:avLst/>
          </a:prstGeom>
          <a:solidFill>
            <a:srgbClr val="FEF3E2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508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C05A20"/>
                </a:solidFill>
                <a:latin typeface="Sakkal Majalla"/>
              </a:defRPr>
            </a:pPr>
            <a:r>
              <a:t>ملاءمة السوق = ضمان تلبية المنتجات الرقمية لاحتياجات السوق الفعلية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0">
                <a:solidFill>
                  <a:srgbClr val="2D3436"/>
                </a:solidFill>
                <a:latin typeface="Sakkal Majalla"/>
              </a:defRPr>
            </a:pPr>
            <a:r>
              <a:t>• التكنولوجيا يجب ان تتوافق مع احتياجات المستخدم لتحقيق النجاح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0">
                <a:solidFill>
                  <a:srgbClr val="2D3436"/>
                </a:solidFill>
                <a:latin typeface="Sakkal Majalla"/>
              </a:defRPr>
            </a:pPr>
            <a:r>
              <a:t>• ملاءمة السوق ضرورية للتبني وقابلية التوسع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0">
                <a:solidFill>
                  <a:srgbClr val="2D3436"/>
                </a:solidFill>
                <a:latin typeface="Sakkal Majalla"/>
              </a:defRPr>
            </a:pPr>
            <a:r>
              <a:t>• النهج التكراري يضمن مواءمة التكنولوجيا للسوق واحتياجات المستخدمين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1">
                <a:solidFill>
                  <a:srgbClr val="C05A20"/>
                </a:solidFill>
                <a:latin typeface="Sakkal Majalla"/>
              </a:defRPr>
            </a:pPr>
            <a:r>
              <a:t>فهم احتياجات السوق: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  الشركات الناجحة تعالج مشاكل العملاء الفعلية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40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  ابحاث السوق تساعد في تحديد الطلب والمنافسة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852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2D3436"/>
                </a:solidFill>
                <a:latin typeface="Sakkal Majalla"/>
              </a:defRPr>
            </a:pPr>
            <a:r>
              <a:t>  ملاحظات العملاء ضرورية لتحسين الحلول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20 / 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0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النمذجة والتجريب واختبار A/B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1">
                <a:solidFill>
                  <a:srgbClr val="0A1628"/>
                </a:solidFill>
                <a:latin typeface="Sakkal Majalla"/>
              </a:defRPr>
            </a:pPr>
            <a:r>
              <a:t>انواع النماذج الاولية: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32918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2103120"/>
            <a:ext cx="18288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E74C3C"/>
                </a:solidFill>
                <a:latin typeface="Sakkal Majalla"/>
              </a:defRPr>
            </a:pPr>
            <a:r>
              <a:t>نماذج ورقية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رسومات تخطيطية</a:t>
            </a:r>
            <a:br/>
            <a:r>
              <a:t>سريعة على الورق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103120"/>
            <a:ext cx="32918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2103120"/>
            <a:ext cx="182880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2980B9"/>
                </a:solidFill>
                <a:latin typeface="Sakkal Majalla"/>
              </a:defRPr>
            </a:pPr>
            <a:r>
              <a:t>نماذج رقمية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8346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نماذج برمجية تفاعلية</a:t>
            </a:r>
            <a:br/>
            <a:r>
              <a:t>باستخدام ادوات التصميم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103120"/>
            <a:ext cx="32918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2103120"/>
            <a:ext cx="18288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800" b="1">
                <a:solidFill>
                  <a:srgbClr val="27AE60"/>
                </a:solidFill>
                <a:latin typeface="Sakkal Majalla"/>
              </a:defRPr>
            </a:pPr>
            <a:r>
              <a:t>نماذج مادية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8346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4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نماذج منتجات اولية</a:t>
            </a:r>
            <a:br/>
            <a:r>
              <a:t>ملموسة للاختبار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1">
                <a:solidFill>
                  <a:srgbClr val="0A1628"/>
                </a:solidFill>
                <a:latin typeface="Sakkal Majalla"/>
              </a:defRPr>
            </a:pPr>
            <a:r>
              <a:t>اختبار A/B: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663440"/>
            <a:ext cx="9418320" cy="118872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75488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  <a:defRPr sz="1500" b="0">
                <a:solidFill>
                  <a:srgbClr val="007B83"/>
                </a:solidFill>
                <a:latin typeface="Sakkal Majalla"/>
              </a:defRPr>
            </a:pPr>
            <a:r>
              <a:t>اختبار A/B يقارن بين فكرتين لمعرفة الانسب. يتم عرض نسختين مختلفتين من المنتج على مجموعتين من المستخدمين ثم قياس اي النسختين تحقق نتائج افضل. التكرار المستمر يؤدي الى منتجات افضل.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21 / 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800" b="1">
                <a:solidFill>
                  <a:srgbClr val="00B894"/>
                </a:solidFill>
                <a:latin typeface="Sakkal Majalla"/>
              </a:defRPr>
            </a:pPr>
            <a:r>
              <a:t>اختبر معلوماتك (4/5)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400" b="1">
                <a:solidFill>
                  <a:srgbClr val="FFFFFF"/>
                </a:solidFill>
                <a:latin typeface="Sakkal Majalla"/>
              </a:defRPr>
            </a:pPr>
            <a:r>
              <a:t>ما هو الهدف الرئيسي من اختبار A/B؟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56032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0" y="2651760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2670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7004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اختبار البرمجة فقط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42900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0" y="3520440"/>
            <a:ext cx="502920" cy="50292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35387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3872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المقارنة بين فكرتين لمعرفة الانسب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29768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9760" y="4389120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44074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40740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حذف المنتجات القديمة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166359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5257799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527608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27608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تصميم الشعارات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00B894"/>
                </a:solidFill>
                <a:latin typeface="Sakkal Majalla"/>
              </a:defRPr>
            </a:pPr>
            <a:r>
              <a:t>الاجابة الصحيحة: 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بناء عقلية ريادية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A0B0C0"/>
                </a:solidFill>
                <a:latin typeface="Sakkal Majalla"/>
              </a:defRPr>
            </a:pPr>
            <a:r>
              <a:t>المحور الخامس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200" b="1">
                <a:solidFill>
                  <a:srgbClr val="0A1628"/>
                </a:solidFill>
                <a:latin typeface="Sakkal Majalla"/>
              </a:defRPr>
            </a:pPr>
            <a:r>
              <a:t>كيفية بناء عقلية ريادية؟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03120"/>
            <a:ext cx="9601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99648" y="2240280"/>
            <a:ext cx="73152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0" y="224028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94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1">
                <a:solidFill>
                  <a:srgbClr val="E74C3C"/>
                </a:solidFill>
                <a:latin typeface="Sakkal Majalla"/>
              </a:defRPr>
            </a:pPr>
            <a:r>
              <a:t>رؤية الفشل كفرصة للتعلم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06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الفشل ليس نهاية الطريق بل هو درس قيم يقربك من النجاح. كل محاولة فاشلة تكشف لك ما لا يعمل وتوجهك نحو ما يعمل.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474720"/>
            <a:ext cx="9601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99648" y="3611880"/>
            <a:ext cx="73152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0" y="3611880"/>
            <a:ext cx="502920" cy="5029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1">
                <a:solidFill>
                  <a:srgbClr val="2980B9"/>
                </a:solidFill>
                <a:latin typeface="Sakkal Majalla"/>
              </a:defRPr>
            </a:pPr>
            <a:r>
              <a:t>الانفتاح على التغذية الراجعة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77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استمع لآراء الآخرين وتقبل النقد البناء. التغذية الراجعة هي مرآتك التي تكشف نقاط القوة والضعف.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846320"/>
            <a:ext cx="9601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899648" y="4983480"/>
            <a:ext cx="7315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0" y="498348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1">
                <a:solidFill>
                  <a:srgbClr val="27AE60"/>
                </a:solidFill>
                <a:latin typeface="Sakkal Majalla"/>
              </a:defRPr>
            </a:pPr>
            <a:r>
              <a:t>البقاء فضوليا والتحسين المستمر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49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لا تتوقف عن التعلم والتجربة. الفضول هو محرك الابتكار والتحسين المستمر هو وقوده.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23 / 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ادوات ومصادر لرائد الاعمال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1">
                <a:solidFill>
                  <a:srgbClr val="E74C3C"/>
                </a:solidFill>
                <a:latin typeface="Calibri"/>
              </a:defRPr>
            </a:pPr>
            <a:r>
              <a:t>Lean Startup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0A1628"/>
                </a:solidFill>
                <a:latin typeface="Sakkal Majalla"/>
              </a:defRPr>
            </a:pPr>
            <a:r>
              <a:t>منهجية الشركات الناشئة المرنة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651760"/>
            <a:ext cx="201168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منهجية للتطوير السريع تركز على</a:t>
            </a:r>
            <a:br/>
            <a:r>
              <a:t>بناء منتج بالحد الادنى من المميزات</a:t>
            </a:r>
            <a:br/>
            <a:r>
              <a:t>(MVP) واختباره في السوق بسرعة</a:t>
            </a:r>
            <a:br/>
            <a:r>
              <a:t>ثم التعلم والتحسين بشكل متكرر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6304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463040"/>
            <a:ext cx="347472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1">
                <a:solidFill>
                  <a:srgbClr val="2980B9"/>
                </a:solidFill>
                <a:latin typeface="Calibri"/>
              </a:defRPr>
            </a:pPr>
            <a:r>
              <a:t>Business Model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0A1628"/>
                </a:solidFill>
                <a:latin typeface="Sakkal Majalla"/>
              </a:defRPr>
            </a:pPr>
            <a:r>
              <a:t>نموذج العمل التجاري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2651760"/>
            <a:ext cx="201168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39" y="28346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اداة بصرية لتنظيم وهيكلة الافكار</a:t>
            </a:r>
            <a:br/>
            <a:r>
              <a:t>التجارية في صفحة واحدة تشمل:</a:t>
            </a:r>
            <a:br/>
            <a:r>
              <a:t>العملاء، القيمة المقدمة، القنوات،</a:t>
            </a:r>
            <a:br/>
            <a:r>
              <a:t>مصادر الايرادات، والتكاليف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9" y="146304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9" y="1463040"/>
            <a:ext cx="347472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9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2000" b="1">
                <a:solidFill>
                  <a:srgbClr val="27AE60"/>
                </a:solidFill>
                <a:latin typeface="Calibri"/>
              </a:defRPr>
            </a:pPr>
            <a:r>
              <a:t>التعلم المستمر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0A1628"/>
                </a:solidFill>
                <a:latin typeface="Sakkal Majalla"/>
              </a:defRPr>
            </a:pPr>
            <a:r>
              <a:t>منصات ومصادر التعلم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19" y="2651760"/>
            <a:ext cx="201168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9" y="28346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منصات عبر الانترنت مثل</a:t>
            </a:r>
            <a:br/>
            <a:r>
              <a:t>Stanford Online و Coursera</a:t>
            </a:r>
            <a:br/>
            <a:r>
              <a:t>و edX توفر دورات متخصصة</a:t>
            </a:r>
            <a:br/>
            <a:r>
              <a:t>في ريادة الاعمال والابتكار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760720"/>
            <a:ext cx="9418320" cy="73152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1A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580644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400" b="0">
                <a:solidFill>
                  <a:srgbClr val="1A735C"/>
                </a:solidFill>
                <a:latin typeface="Sakkal Majalla"/>
              </a:defRPr>
            </a:pPr>
            <a:r>
              <a:t>التعاون وبناء العلاقات: رواد الاعمال الناجحون يستفيدون من شبكات العلاقات وحاضنات الاعمال لتسريع النمو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التغلب على تحديات الابتكار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1">
                <a:solidFill>
                  <a:srgbClr val="E74C3C"/>
                </a:solidFill>
                <a:latin typeface="Sakkal Majalla"/>
              </a:defRPr>
            </a:pPr>
            <a:r>
              <a:t>التحديات: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920240"/>
            <a:ext cx="9601200" cy="6858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1">
                <a:solidFill>
                  <a:srgbClr val="E74C3C"/>
                </a:solidFill>
                <a:latin typeface="Sakkal Majalla"/>
              </a:defRPr>
            </a:pPr>
            <a:r>
              <a:t>مقاومة التغيير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40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الناس بطبيعتهم يميلون للمألوف ويقاومون التغيير خوفا من المجهول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43200"/>
            <a:ext cx="9601200" cy="6858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1">
                <a:solidFill>
                  <a:srgbClr val="E74C3C"/>
                </a:solidFill>
                <a:latin typeface="Sakkal Majalla"/>
              </a:defRPr>
            </a:pPr>
            <a:r>
              <a:t>الخوف من الفشل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63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300" b="0">
                <a:solidFill>
                  <a:srgbClr val="2D3436"/>
                </a:solidFill>
                <a:latin typeface="Sakkal Majalla"/>
              </a:defRPr>
            </a:pPr>
            <a:r>
              <a:t>الخوف من الفشل يمكن ان يعيق الابداع ويمنع تجربة افكار جديدة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1">
                <a:solidFill>
                  <a:srgbClr val="00B894"/>
                </a:solidFill>
                <a:latin typeface="Sakkal Majalla"/>
              </a:defRPr>
            </a:pPr>
            <a:r>
              <a:t>الحلول: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206240"/>
            <a:ext cx="9601200" cy="59436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233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500" b="1">
                <a:solidFill>
                  <a:srgbClr val="00B894"/>
                </a:solidFill>
                <a:latin typeface="Sakkal Majalla"/>
              </a:defRPr>
            </a:pPr>
            <a:r>
              <a:t>تشجيع التجربة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80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200" b="0">
                <a:solidFill>
                  <a:srgbClr val="2D3436"/>
                </a:solidFill>
                <a:latin typeface="Sakkal Majalla"/>
              </a:defRPr>
            </a:pPr>
            <a:r>
              <a:t>خلق بيئة آمنة لتجربة اشياء جديدة بدون خوف من العقوبة على الفشل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892040"/>
            <a:ext cx="9601200" cy="59436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919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500" b="1">
                <a:solidFill>
                  <a:srgbClr val="00B894"/>
                </a:solidFill>
                <a:latin typeface="Sakkal Majalla"/>
              </a:defRPr>
            </a:pPr>
            <a:r>
              <a:t>تعزيز ثقافة الانفتاح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66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200" b="0">
                <a:solidFill>
                  <a:srgbClr val="2D3436"/>
                </a:solidFill>
                <a:latin typeface="Sakkal Majalla"/>
              </a:defRPr>
            </a:pPr>
            <a:r>
              <a:t>تشجيع التواصل المفتوح للتعلم من الاخطاء ومشاركة الافكار بحرية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577840"/>
            <a:ext cx="9601200" cy="59436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6052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500" b="1">
                <a:solidFill>
                  <a:srgbClr val="00B894"/>
                </a:solidFill>
                <a:latin typeface="Sakkal Majalla"/>
              </a:defRPr>
            </a:pPr>
            <a:r>
              <a:t>الاحتفاء بالتعلم من الفشل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852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200" b="0">
                <a:solidFill>
                  <a:srgbClr val="2D3436"/>
                </a:solidFill>
                <a:latin typeface="Sakkal Majalla"/>
              </a:defRPr>
            </a:pPr>
            <a:r>
              <a:t>تحويل كل تجربة فاشلة الى درس مستفاد ومشاركته مع الفريق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25 / 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800" b="1">
                <a:solidFill>
                  <a:srgbClr val="00B894"/>
                </a:solidFill>
                <a:latin typeface="Sakkal Majalla"/>
              </a:defRPr>
            </a:pPr>
            <a:r>
              <a:t>اختبر معلوماتك (5/5)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400" b="1">
                <a:solidFill>
                  <a:srgbClr val="FFFFFF"/>
                </a:solidFill>
                <a:latin typeface="Sakkal Majalla"/>
              </a:defRPr>
            </a:pPr>
            <a:r>
              <a:t>اي من التالية يعتبر من سمات العقلية الريادية؟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56032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0" y="2651760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2670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7004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الخوف من المخاطرة وتجنب التجارب الجديدة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42900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0" y="3520440"/>
            <a:ext cx="502920" cy="50292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35387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3872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رؤية الفشل كفرصة للتعلم والتحسين المستمر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297680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9760" y="4389120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44074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40740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رفض التغذية الراجعة من الآخرين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166359"/>
            <a:ext cx="8503920" cy="685800"/>
          </a:xfrm>
          <a:prstGeom prst="roundRect">
            <a:avLst/>
          </a:prstGeom>
          <a:solidFill>
            <a:srgbClr val="1A2E50"/>
          </a:solidFill>
          <a:ln w="1905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5257799"/>
            <a:ext cx="50292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527608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600" b="1">
                <a:solidFill>
                  <a:srgbClr val="FFFFFF"/>
                </a:solidFill>
                <a:latin typeface="Sakkal Majalla"/>
              </a:defRPr>
            </a:pPr>
            <a:r>
              <a:t>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27608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FFFFFF"/>
                </a:solidFill>
                <a:latin typeface="Sakkal Majalla"/>
              </a:defRPr>
            </a:pPr>
            <a:r>
              <a:t>التمسك بالخطة الاصلية دون اي تعديل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00B894"/>
                </a:solidFill>
                <a:latin typeface="Sakkal Majalla"/>
              </a:defRPr>
            </a:pPr>
            <a:r>
              <a:t>الاجابة الصحيحة: 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200" b="1">
                <a:solidFill>
                  <a:srgbClr val="FFFFFF"/>
                </a:solidFill>
                <a:latin typeface="Sakkal Majalla"/>
              </a:defRPr>
            </a:pPr>
            <a:r>
              <a:t>ملخص الوحدة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A0B0C0"/>
                </a:solidFill>
                <a:latin typeface="Sakkal Majalla"/>
              </a:defRPr>
            </a:pPr>
            <a:r>
              <a:t>ما تعلمناه اليوم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9601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99648" y="1554480"/>
            <a:ext cx="73152" cy="5943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0" y="1572768"/>
            <a:ext cx="1371600" cy="5486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1600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الابتكار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002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0">
                <a:solidFill>
                  <a:srgbClr val="2D3436"/>
                </a:solidFill>
                <a:latin typeface="Sakkal Majalla"/>
              </a:defRPr>
            </a:pPr>
            <a:r>
              <a:t>ايجاد حلول جديدة باستخدام تقنيات ابداعية مثل SCAMPER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377440"/>
            <a:ext cx="9601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99648" y="2468880"/>
            <a:ext cx="73152" cy="5943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0" y="2487168"/>
            <a:ext cx="137160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5146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ريادة الاعمال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146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0">
                <a:solidFill>
                  <a:srgbClr val="2D3436"/>
                </a:solidFill>
                <a:latin typeface="Sakkal Majalla"/>
              </a:defRPr>
            </a:pPr>
            <a:r>
              <a:t>تحويل الافكار لمشاريع ناجحة تتطلب حل المشكلات والمرونة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291840"/>
            <a:ext cx="9601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99648" y="3383280"/>
            <a:ext cx="73152" cy="594360"/>
          </a:xfrm>
          <a:prstGeom prst="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18320" y="3401568"/>
            <a:ext cx="1371600" cy="548640"/>
          </a:xfrm>
          <a:prstGeom prst="roundRect">
            <a:avLst/>
          </a:prstGeom>
          <a:solidFill>
            <a:srgbClr val="6C3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429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التفكير التصميمي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4290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0">
                <a:solidFill>
                  <a:srgbClr val="2D3436"/>
                </a:solidFill>
                <a:latin typeface="Sakkal Majalla"/>
              </a:defRPr>
            </a:pPr>
            <a:r>
              <a:t>5 مراحل: التعاطف، التحديد، التفكير، النمذجة، الاختبار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206240"/>
            <a:ext cx="9601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99648" y="4297680"/>
            <a:ext cx="73152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20" y="4315968"/>
            <a:ext cx="137160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43434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ملاءمة السوق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3434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0">
                <a:solidFill>
                  <a:srgbClr val="2D3436"/>
                </a:solidFill>
                <a:latin typeface="Sakkal Majalla"/>
              </a:defRPr>
            </a:pPr>
            <a:r>
              <a:t>التكنولوجيا + احتياجات السوق + النمذجة + اختبار A/B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120640"/>
            <a:ext cx="9601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99648" y="5212080"/>
            <a:ext cx="73152" cy="594360"/>
          </a:xfrm>
          <a:prstGeom prst="rect">
            <a:avLst/>
          </a:prstGeom>
          <a:solidFill>
            <a:srgbClr val="1A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0" y="5230368"/>
            <a:ext cx="1371600" cy="548640"/>
          </a:xfrm>
          <a:prstGeom prst="roundRect">
            <a:avLst/>
          </a:prstGeom>
          <a:solidFill>
            <a:srgbClr val="1A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52578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defRPr sz="1300" b="1">
                <a:solidFill>
                  <a:srgbClr val="FFFFFF"/>
                </a:solidFill>
                <a:latin typeface="Sakkal Majalla"/>
              </a:defRPr>
            </a:pPr>
            <a:r>
              <a:t>العقلية الريادية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2578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600" b="0">
                <a:solidFill>
                  <a:srgbClr val="2D3436"/>
                </a:solidFill>
                <a:latin typeface="Sakkal Majalla"/>
              </a:defRPr>
            </a:pPr>
            <a:r>
              <a:t>الفشل فرصة، التغذية الراجعة ضرورية، التعلم مستمر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27 / 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0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4592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4360" y="0"/>
            <a:ext cx="36576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2000" b="0">
                <a:solidFill>
                  <a:srgbClr val="00B894"/>
                </a:solidFill>
                <a:latin typeface="Sakkal Majalla"/>
              </a:defRPr>
            </a:pPr>
            <a:r>
              <a:t>الخطوات القادمة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3600" b="1">
                <a:solidFill>
                  <a:srgbClr val="FFFFFF"/>
                </a:solidFill>
                <a:latin typeface="Sakkal Majalla"/>
              </a:defRPr>
            </a:pPr>
            <a:r>
              <a:t>اكملت المحاضرة بنجاح!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C0D0E0"/>
                </a:solidFill>
                <a:latin typeface="Sakkal Majalla"/>
              </a:defRPr>
            </a:pPr>
            <a:r>
              <a:t>  اكمال الانشطة التفاعلية المرتبطة بالوحدة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03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C0D0E0"/>
                </a:solidFill>
                <a:latin typeface="Sakkal Majalla"/>
              </a:defRPr>
            </a:pPr>
            <a:r>
              <a:t>  المشاركة في نشاط النقاش حول العقلية الرقمية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06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C0D0E0"/>
                </a:solidFill>
                <a:latin typeface="Sakkal Majalla"/>
              </a:defRPr>
            </a:pPr>
            <a:r>
              <a:t>  تطبيق التفكير التصميمي في حل مشكلة رقمية (الواجب)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091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800" b="0">
                <a:solidFill>
                  <a:srgbClr val="C0D0E0"/>
                </a:solidFill>
                <a:latin typeface="Sakkal Majalla"/>
              </a:defRPr>
            </a:pPr>
            <a:r>
              <a:t>  الاستعداد للاختبار البعدي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400" b="0">
                <a:solidFill>
                  <a:srgbClr val="8B95A8"/>
                </a:solidFill>
                <a:latin typeface="Sakkal Majalla"/>
              </a:defRPr>
            </a:pPr>
            <a:r>
              <a:t>جامعة نجران - كلية علوم الحاسب ونظم المعلومات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8B95A8"/>
                </a:solidFill>
                <a:latin typeface="Sakkal Majalla"/>
              </a:defRPr>
            </a:pPr>
            <a: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