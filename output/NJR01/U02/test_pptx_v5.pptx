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Storyline: عرض المحاور بشكل متتابع مع تأثير ظهور تدريجي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Storyline: عرض البطاقات الثلاث بشكل متتابع عند النقر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Storyline: عرض التقنيات بشكل متتابع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Storyline: تفاعل Click-to-Reveal</a:t>
            </a:r>
          </a:p>
          <a:p>
            <a:r>
              <a:t>- اخفاء التفاصيل في البداية</a:t>
            </a:r>
          </a:p>
          <a:p>
            <a:r>
              <a:t>- عند النقر على كل عنصر يظهر الوصف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الإجابة الصحيحة: ب</a:t>
            </a:r>
          </a:p>
          <a:p>
            <a:r>
              <a:t>E - Eliminate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ريادة الاعمال هي تحويل الافكار الى مشاريع ناجحة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عقلية الابتكار التقني هي القدرة على تطوير حلول ابداعية باستخدام التكنولوجيا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الإجابة الصحيحة: ج</a:t>
            </a:r>
          </a:p>
          <a:p>
            <a:r>
              <a:t>البرمجة بلغة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Storyline: عرض متتابع Sequential Reveal - المراحل تظهر واحدة تلو الاخرى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تحديد احتياجات المستخدم الحقيقية هو اساس الابتكار الهادف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التفكير التصميمي عملية تكرارية وليست خطية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الإجابة الصحيحة (الترتيب الصحيح):</a:t>
            </a:r>
          </a:p>
          <a:p>
            <a:r>
              <a:t>1. التعاطف</a:t>
            </a:r>
          </a:p>
          <a:p>
            <a:r>
              <a:t>2. التحديد</a:t>
            </a:r>
          </a:p>
          <a:p>
            <a:r>
              <a:t>3. التفكير</a:t>
            </a:r>
          </a:p>
          <a:p>
            <a:r>
              <a:t>4. النموذج الاولي</a:t>
            </a:r>
          </a:p>
          <a:p>
            <a:r>
              <a:t>5. الاختبار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الفكرة يجب ان تحظى بطلب في السوق لتكون مشروعا قابلا للاستمرار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اختبار A/B يقارن بين فكرتين لمعرفة الانسب - التكرار المستمر يؤدي لمنتجات افضل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الإجابة الصحيحة: ب</a:t>
            </a:r>
          </a:p>
          <a:p>
            <a:r>
              <a:t>المقارنة بين فكرتين لمعرفة الانسب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الإجابة الصحيحة: ب</a:t>
            </a:r>
          </a:p>
          <a:p>
            <a:r>
              <a:t>رؤية الفشل كفرصة للتعلم والتحسين المستمر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نجران - كلية علوم الحاسب ونظم المعلومات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الوحدة الثانية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5" name="Picture 4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6" name="Picture 5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الأهداف التعليمية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0654" y="1830945"/>
            <a:ext cx="536194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يتوقع منك في نهاية هذه المحاضرة أن تكون قادرًا على:</a:t>
            </a:r>
          </a:p>
        </p:txBody>
      </p:sp>
      <p:pic>
        <p:nvPicPr>
          <p:cNvPr id="6" name="Picture 5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2315612"/>
            <a:ext cx="11029824" cy="600002"/>
          </a:xfrm>
          <a:prstGeom prst="rect">
            <a:avLst/>
          </a:prstGeom>
        </p:spPr>
      </p:pic>
      <p:pic>
        <p:nvPicPr>
          <p:cNvPr id="7" name="Picture 6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2315612"/>
            <a:ext cx="703228" cy="6000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2617" y="2446336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يعدد المتعلم عناصر الابتكار الثلاثة وتقنيات العصف الذهني الاساسية</a:t>
            </a:r>
          </a:p>
        </p:txBody>
      </p:sp>
      <p:pic>
        <p:nvPicPr>
          <p:cNvPr id="9" name="Picture 8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3151353"/>
            <a:ext cx="11029824" cy="600002"/>
          </a:xfrm>
          <a:prstGeom prst="rect">
            <a:avLst/>
          </a:prstGeom>
        </p:spPr>
      </p:pic>
      <p:pic>
        <p:nvPicPr>
          <p:cNvPr id="10" name="Picture 9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3151353"/>
            <a:ext cx="703228" cy="6000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2617" y="3282077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يوضح المتعلم مفهوم ريادة الاعمال وعلاقتها بالابتكار التقني</a:t>
            </a:r>
          </a:p>
        </p:txBody>
      </p:sp>
      <p:pic>
        <p:nvPicPr>
          <p:cNvPr id="12" name="Picture 11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3987094"/>
            <a:ext cx="11029824" cy="600002"/>
          </a:xfrm>
          <a:prstGeom prst="rect">
            <a:avLst/>
          </a:prstGeom>
        </p:spPr>
      </p:pic>
      <p:pic>
        <p:nvPicPr>
          <p:cNvPr id="13" name="Picture 12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3987094"/>
            <a:ext cx="703228" cy="6000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2617" y="4117818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يشرح المتعلم المراحل الخمس للتفكير التصميمي ودور كل مرحلة</a:t>
            </a:r>
          </a:p>
        </p:txBody>
      </p:sp>
      <p:pic>
        <p:nvPicPr>
          <p:cNvPr id="15" name="Picture 14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4822835"/>
            <a:ext cx="11029824" cy="600002"/>
          </a:xfrm>
          <a:prstGeom prst="rect">
            <a:avLst/>
          </a:prstGeom>
        </p:spPr>
      </p:pic>
      <p:pic>
        <p:nvPicPr>
          <p:cNvPr id="16" name="Picture 15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4822835"/>
            <a:ext cx="703228" cy="6000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2617" y="4953559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يطبق المتعلم طريقة SCAMPER لتوليد افكار ابداعية جديدة</a:t>
            </a:r>
          </a:p>
        </p:txBody>
      </p:sp>
      <p:pic>
        <p:nvPicPr>
          <p:cNvPr id="18" name="Picture 17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5658576"/>
            <a:ext cx="11029824" cy="600002"/>
          </a:xfrm>
          <a:prstGeom prst="rect">
            <a:avLst/>
          </a:prstGeom>
        </p:spPr>
      </p:pic>
      <p:pic>
        <p:nvPicPr>
          <p:cNvPr id="19" name="Picture 18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5658576"/>
            <a:ext cx="703228" cy="6000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2617" y="5789300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يستخدم المتعلم مراحل التفكير التصميمي لبناء نموذج اولي</a:t>
            </a:r>
          </a:p>
        </p:txBody>
      </p:sp>
      <p:pic>
        <p:nvPicPr>
          <p:cNvPr id="21" name="Picture 20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6494317"/>
            <a:ext cx="11029824" cy="600002"/>
          </a:xfrm>
          <a:prstGeom prst="rect">
            <a:avLst/>
          </a:prstGeom>
        </p:spPr>
      </p:pic>
      <p:pic>
        <p:nvPicPr>
          <p:cNvPr id="22" name="Picture 21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6494317"/>
            <a:ext cx="703228" cy="6000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62617" y="6625041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يحلل المتعلم العلاقة بين التكنولوجيا وملاءمة السوق</a:t>
            </a:r>
          </a:p>
        </p:txBody>
      </p:sp>
      <p:pic>
        <p:nvPicPr>
          <p:cNvPr id="24" name="Picture 23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7330058"/>
            <a:ext cx="11029824" cy="600002"/>
          </a:xfrm>
          <a:prstGeom prst="rect">
            <a:avLst/>
          </a:prstGeom>
        </p:spPr>
      </p:pic>
      <p:pic>
        <p:nvPicPr>
          <p:cNvPr id="25" name="Picture 24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7330058"/>
            <a:ext cx="703228" cy="60000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2617" y="7460782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يقيم المتعلم فرص العمل الريادية بناء على معايير محددة</a:t>
            </a:r>
          </a:p>
        </p:txBody>
      </p:sp>
      <p:pic>
        <p:nvPicPr>
          <p:cNvPr id="27" name="Picture 26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8165799"/>
            <a:ext cx="11029824" cy="600002"/>
          </a:xfrm>
          <a:prstGeom prst="rect">
            <a:avLst/>
          </a:prstGeom>
        </p:spPr>
      </p:pic>
      <p:pic>
        <p:nvPicPr>
          <p:cNvPr id="28" name="Picture 27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8165799"/>
            <a:ext cx="703228" cy="60000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62617" y="8296523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يصمم المتعلم حلا ابتكاريا لمشكلة رقمية واقعية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محاور المحاضرة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980000"/>
            <a:ext cx="1008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المحور الاول: ما هو الابتكار واهمية توليد الافكار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المحور الثاني: ريادة الاعمال وعقلية الابتكار التقني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المحور الثالث: التفكير التصميمي ومراحله الخمس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المحور الرابع: المرونة والتكيف وملاءمة السوق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المحور الخامس: بناء عقلية ريادية والتغلب على التحديات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هو الابتكار؟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4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28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حلول جديدة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ايجاد حلول مبتكرة وجديدة للمشاكل الواقعية التي تواجه الافراد والمؤسسات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0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000" y="1980000"/>
            <a:ext cx="3228000" cy="28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تحسين الموجود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الابتكار يقوم بتحسين العمليات او المنتجات او الخدمات الحالية وتطويرها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6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000" y="1980000"/>
            <a:ext cx="3228000" cy="28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E2841"/>
                </a:solidFill>
                <a:cs typeface="Tajawal ExtraBold"/>
                <a:latin typeface="Tajawal ExtraBold"/>
                <a:ea typeface="Tajawal ExtraBold"/>
              </a:rPr>
              <a:t>تقنيات جديدة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يتضمن الابتكار استخدام تقنيات جديدة او اساليب ابداعية لم تكن مستخدمة من قبل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اهمية توليد الافكار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980000"/>
            <a:ext cx="1008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اساس الابتكار هو توليد افكار متنوعة تتطلب التفكير خارج الصندوق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تقنيات العصف الذهني: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  - التواصل الحر: دع الافكار تتدفق دون اصدار احكام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  - الخرائط الذهنية: ربط الافكار والمفاهيم بصريا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  - طريقة SCAMPER: اداة فعالة لتوليد افكار جديدة بشكل منهجي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طريقة SCAMPER لتوليد الافكار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20000"/>
            <a:ext cx="104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انقر على كل حرف لعرض التفاصيل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2340000"/>
            <a:ext cx="10260000" cy="5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84000" y="2376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2340000"/>
            <a:ext cx="9252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S - استبدال (Substitute)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3024000"/>
            <a:ext cx="10260000" cy="5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84000" y="3060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024000"/>
            <a:ext cx="9252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C - دمج (Combine)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" y="3708000"/>
            <a:ext cx="10260000" cy="5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84000" y="3744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3708000"/>
            <a:ext cx="9252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A - تكيف (Adapt)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4392000"/>
            <a:ext cx="10260000" cy="5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84000" y="4428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4392000"/>
            <a:ext cx="9252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M - تعديل (Modify)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000" y="5076000"/>
            <a:ext cx="10260000" cy="5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84000" y="5112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5076000"/>
            <a:ext cx="9252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P - استخدام آخر (Put to use)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000" y="5760000"/>
            <a:ext cx="10260000" cy="5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84000" y="5796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" y="5760000"/>
            <a:ext cx="9252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E - حذف (Eliminate)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" y="6444000"/>
            <a:ext cx="10260000" cy="5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84000" y="6480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000" y="6444000"/>
            <a:ext cx="9252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R - عكس (Reverse)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2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هو الحرف الذي يمثل "الحذف" في طريقة SCAMPER؟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266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80000" y="27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270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S - Substitute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338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80000" y="34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42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E - Eliminate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" y="410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80000" y="414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414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M - Modify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482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80000" y="486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486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R - Reverse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0000" y="5760000"/>
            <a:ext cx="2880000" cy="503999"/>
          </a:xfrm>
          <a:prstGeom prst="roundRect">
            <a:avLst/>
          </a:prstGeom>
          <a:solidFill>
            <a:srgbClr val="156082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0" y="6300000"/>
            <a:ext cx="7200000" cy="36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400" b="0" lang="ar-JO">
                <a:solidFill>
                  <a:srgbClr val="999999"/>
                </a:solidFill>
                <a:cs typeface="Tajawal"/>
                <a:latin typeface="Tajawal"/>
                <a:ea typeface="Tajawal"/>
              </a:rPr>
              <a:t>Storyline: عند النقر على 'تحقق' تظهر التغذية الراجعة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هي ريادة الاعمال؟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4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28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حل المشكلات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القدرة على تحديد المشكلات وتحليلها وايجاد حلول عملية فعالة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0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000" y="1980000"/>
            <a:ext cx="3228000" cy="28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الابداع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التفكير بطرق غير تقليدية لايجاد حلول مبتكرة وفريدة من نوعها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6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000" y="1980000"/>
            <a:ext cx="3228000" cy="28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E2841"/>
                </a:solidFill>
                <a:cs typeface="Tajawal ExtraBold"/>
                <a:latin typeface="Tajawal ExtraBold"/>
                <a:ea typeface="Tajawal ExtraBold"/>
              </a:rPr>
              <a:t>المرونة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القدرة على التكيف مع التغيرات والظروف المختلفة بسرعة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الابتكار التقني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4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28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التفكير التصميمي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فهم احتياجات المستخدم قبل تطوير الحلول الرقمية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0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000" y="1980000"/>
            <a:ext cx="3228000" cy="28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المرونة والتكيف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الاستجابة للتغيرات التكنولوجية المتسارعة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6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000" y="1980000"/>
            <a:ext cx="3228000" cy="28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E2841"/>
                </a:solidFill>
                <a:cs typeface="Tajawal ExtraBold"/>
                <a:latin typeface="Tajawal ExtraBold"/>
                <a:ea typeface="Tajawal ExtraBold"/>
              </a:rPr>
              <a:t>ملاءمة السوق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ضمان تلبية المنتجات الرقمية لاحتياجات السوق الفعلية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2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اي من التالية ليست من المتطلبات الرئيسية لعقلية الابتكار التقني؟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266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80000" y="27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270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التفكير التصميمي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338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80000" y="34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42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المرونة والقدرة على التكيف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" y="410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80000" y="414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414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البرمجة بلغة 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482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80000" y="486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486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ملاءمة التكنولوجيا للسوق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0000" y="5760000"/>
            <a:ext cx="2880000" cy="503999"/>
          </a:xfrm>
          <a:prstGeom prst="roundRect">
            <a:avLst/>
          </a:prstGeom>
          <a:solidFill>
            <a:srgbClr val="156082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0" y="6300000"/>
            <a:ext cx="7200000" cy="36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400" b="0" lang="ar-JO">
                <a:solidFill>
                  <a:srgbClr val="999999"/>
                </a:solidFill>
                <a:cs typeface="Tajawal"/>
                <a:latin typeface="Tajawal"/>
                <a:ea typeface="Tajawal"/>
              </a:rPr>
              <a:t>Storyline: عند النقر على 'تحقق' تظهر التغذية الراجعة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40000" y="1260000"/>
            <a:ext cx="9312000" cy="4338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0" y="2340000"/>
            <a:ext cx="8640000" cy="108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التفكير التصميمي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6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2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نهج ابتكاري متمحور حول الانسان يستخدمه شركات مثل جوجل وآبل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هو التفكير التصميمي؟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980000"/>
            <a:ext cx="1008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نهج ابتكاري متمحور حول الانسان لحل المشكلات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يركز على فهم احتياجات المستخدم قبل تطوير الحلول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يستخدم النهج التكراري: بناء الافكار واختبارها وتحسينها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يستخدم من قبل شركات عالمية رائدة مثل جوجل وآبل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المراحل الخمس للتفكير التصميمي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20000"/>
            <a:ext cx="104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انقر على كل مرحلة لعرض التفاصيل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2340000"/>
            <a:ext cx="10260000" cy="5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84000" y="2376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2340000"/>
            <a:ext cx="9252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1. التعاطف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3024000"/>
            <a:ext cx="10260000" cy="5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84000" y="3060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024000"/>
            <a:ext cx="9252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2. التحديد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" y="3708000"/>
            <a:ext cx="10260000" cy="5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84000" y="3744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3708000"/>
            <a:ext cx="9252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3. التفكير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4392000"/>
            <a:ext cx="10260000" cy="5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84000" y="4428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4392000"/>
            <a:ext cx="9252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4. النموذج الاولي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000" y="5076000"/>
            <a:ext cx="10260000" cy="5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84000" y="5112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5076000"/>
            <a:ext cx="9252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5. الاختبار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التعاطف وتحديد الاحتياجات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4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28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الملاحظة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ملاحظة كيفية استخدام الناس للمنتجات في الحياة الواقعية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0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000" y="1980000"/>
            <a:ext cx="3228000" cy="28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المقابلات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المشاركة في مقابلات مع المستخدمين للتعرف على وجهات نظرهم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6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000" y="1980000"/>
            <a:ext cx="3228000" cy="28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E2841"/>
                </a:solidFill>
                <a:cs typeface="Tajawal ExtraBold"/>
                <a:latin typeface="Tajawal ExtraBold"/>
                <a:ea typeface="Tajawal ExtraBold"/>
              </a:rPr>
              <a:t>استطلاعات الرأي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اجراء استطلاعات رأي لجمع آراء المستخدمين بشكل واسع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التحديد والتفكير والنمذجة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980000"/>
            <a:ext cx="1008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التحديد: توضيح وتعريف المشكلة بدقة بعد فهم احتياجات المستخدم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التفكير: تبادل الافكار وتوليد حلول متعددة - كلما زادت الافكار كان افضل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النموذج الاولي: بناء نماذج بسيطة واختبارها بسرعة وبأقل تكلفة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العملية تكرارية: يمكن العودة لاي مرحلة سابقة حسب الحاجة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الاختبار والتكرار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4000" y="2034000"/>
            <a:ext cx="2349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980000"/>
            <a:ext cx="2349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2349000" cy="28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بناء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بناء النموذج الاولي بسرعة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1000" y="2034000"/>
            <a:ext cx="2349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37000" y="1980000"/>
            <a:ext cx="2349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7000" y="1980000"/>
            <a:ext cx="2349000" cy="28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7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اختبار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7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اختبار النموذج مع المستخدمين الحقيقيين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8000" y="2034000"/>
            <a:ext cx="2349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4000" y="1980000"/>
            <a:ext cx="2349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4000" y="1980000"/>
            <a:ext cx="2349000" cy="28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4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E2841"/>
                </a:solidFill>
                <a:cs typeface="Tajawal ExtraBold"/>
                <a:latin typeface="Tajawal ExtraBold"/>
                <a:ea typeface="Tajawal ExtraBold"/>
              </a:rPr>
              <a:t>صقل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4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تحسين النموذج بناء على الملاحظات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5000" y="2034000"/>
            <a:ext cx="2349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11000" y="1980000"/>
            <a:ext cx="2349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11000" y="1980000"/>
            <a:ext cx="2349000" cy="28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1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تكرار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1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تكرار العملية حتى الوصول للحل الامثل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سحب وترتيب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رتب المراحل الخمس للتفكير التصميمي بالترتيب الصحيح: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520000"/>
            <a:ext cx="10440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156082"/>
                </a:solidFill>
                <a:cs typeface="Tajawal Medium"/>
                <a:latin typeface="Tajawal Medium"/>
                <a:ea typeface="Tajawal Medium"/>
              </a:rPr>
              <a:t>اسحب العناصر التالية إلى الترتيب الصحيح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3060000"/>
            <a:ext cx="4320000" cy="72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النموذج الاولي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000" y="3960000"/>
            <a:ext cx="4320000" cy="72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التعاطف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4860000"/>
            <a:ext cx="4320000" cy="72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الاختبار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0" y="5760000"/>
            <a:ext cx="4320000" cy="72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التحديد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000" y="6660000"/>
            <a:ext cx="4320000" cy="72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التفكير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0000" y="3060000"/>
            <a:ext cx="432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52000" y="315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960000"/>
            <a:ext cx="432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52000" y="405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0" y="4860000"/>
            <a:ext cx="432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52000" y="495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000" y="5760000"/>
            <a:ext cx="432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52000" y="585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0000" y="6660000"/>
            <a:ext cx="432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52000" y="675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المرونة مقابل القدرة على التكيف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القدرة على التكيف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القدرة على التطور والازدهار استجابة للتحولات الجذرية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تتعامل مع التغيرات طويلة الامد في البيئة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تتطلب اعادة تشكيل الاستراتيجيات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مثال: تحول نوكيا من الورق الى الاتصالات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المرونة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القدرة على الاستجابة للتحديات او الفرص الفورية بكفاءة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تتعامل مع التغيرات قصيرة المدى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تتطلب سرعة في اتخاذ القرارات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مثال: تكيف المطاعم مع التوصيل اثناء كورونا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32000" y="1800000"/>
            <a:ext cx="28800" cy="3600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تحديد فرص العمل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4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28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احتياجات العملاء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فهم ما يحتاجه العملاء فعلا وليس ما نظن انهم يحتاجونه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0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000" y="1980000"/>
            <a:ext cx="3228000" cy="28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دراسة الجدوى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التأكد من ان المشروع قابل للتنفيذ تقنيا وماليا وعمليا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6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000" y="1980000"/>
            <a:ext cx="3228000" cy="28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E2841"/>
                </a:solidFill>
                <a:cs typeface="Tajawal ExtraBold"/>
                <a:latin typeface="Tajawal ExtraBold"/>
                <a:ea typeface="Tajawal ExtraBold"/>
              </a:rPr>
              <a:t>قابلية التوسع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امكانية نمو المشروع وتوسعه للوصول الى شريحة اكبر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التكنولوجيا وملاءمة السوق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980000"/>
            <a:ext cx="1008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ملاءمة السوق = ضمان تلبية المنتجات الرقمية لاحتياجات السوق الفعلية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التكنولوجيا يجب ان تتوافق مع احتياجات المستخدم لتحقيق النجاح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ملاءمة السوق ضرورية للتبني وقابلية التوسع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النهج التكراري يضمن مواءمة التكنولوجيا للسوق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الشركات الناجحة تعالج مشاكل العملاء الفعلية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النمذجة والتجريب واختبار A/B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4000" y="2034000"/>
            <a:ext cx="2349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980000"/>
            <a:ext cx="2349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2349000" cy="28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نماذج ورقية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رسومات تخطيطية سريعة على الورق لاختبار الافكار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1000" y="2034000"/>
            <a:ext cx="2349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37000" y="1980000"/>
            <a:ext cx="2349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7000" y="1980000"/>
            <a:ext cx="2349000" cy="28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7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نماذج رقمية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7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نماذج برمجية تفاعلية باستخدام ادوات التصميم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8000" y="2034000"/>
            <a:ext cx="2349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4000" y="1980000"/>
            <a:ext cx="2349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4000" y="1980000"/>
            <a:ext cx="2349000" cy="28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4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E2841"/>
                </a:solidFill>
                <a:cs typeface="Tajawal ExtraBold"/>
                <a:latin typeface="Tajawal ExtraBold"/>
                <a:ea typeface="Tajawal ExtraBold"/>
              </a:rPr>
              <a:t>نماذج مادية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4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نماذج منتجات اولية ملموسة للاختبار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5000" y="2034000"/>
            <a:ext cx="2349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11000" y="1980000"/>
            <a:ext cx="2349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11000" y="1980000"/>
            <a:ext cx="2349000" cy="28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1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اختبار A/B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1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مقارنة بين نسختين مختلفتين لمعرفة الانسب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2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هو الهدف الرئيسي من اختبار A/B؟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266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80000" y="27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270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اختبار البرمجة فقط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338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80000" y="34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42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المقارنة بين فكرتين لمعرفة الانسب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" y="410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80000" y="414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414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حذف المنتجات القديمة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482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80000" y="486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486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تصميم الشعارات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0000" y="5760000"/>
            <a:ext cx="2880000" cy="503999"/>
          </a:xfrm>
          <a:prstGeom prst="roundRect">
            <a:avLst/>
          </a:prstGeom>
          <a:solidFill>
            <a:srgbClr val="156082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0" y="6300000"/>
            <a:ext cx="7200000" cy="36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400" b="0" lang="ar-JO">
                <a:solidFill>
                  <a:srgbClr val="999999"/>
                </a:solidFill>
                <a:cs typeface="Tajawal"/>
                <a:latin typeface="Tajawal"/>
                <a:ea typeface="Tajawal"/>
              </a:rPr>
              <a:t>Storyline: عند النقر على 'تحقق' تظهر التغذية الراجعة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40000" y="1260000"/>
            <a:ext cx="9312000" cy="4338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0" y="2340000"/>
            <a:ext cx="8640000" cy="108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بناء عقلية ريادية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6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2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المحور الخامس: كيف تبني عقلية ريادة الاعمال؟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كيفية بناء عقلية ريادية؟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980000"/>
            <a:ext cx="1008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رؤية الفشل كفرصة للتعلم - كل محاولة فاشلة تقربك من النجاح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الانفتاح على التغذية الراجعة والتكيف مع النقد البناء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البقاء فضوليا والتحسين المستمر - لا تتوقف عن التعلم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ادوات ومصادر لرائد الاعمال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4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28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Lean Startup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منهجية الشركات الناشئة المرنة للتطوير السريع وبناء MVP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0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000" y="1980000"/>
            <a:ext cx="3228000" cy="28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Business Model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نموذج العمل التجاري لهيكلة الافكار التجارية في صفحة واحدة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6000" y="2034000"/>
            <a:ext cx="3228000" cy="3240000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000" y="1980000"/>
            <a:ext cx="3228000" cy="28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E2841"/>
                </a:solidFill>
                <a:cs typeface="Tajawal ExtraBold"/>
                <a:latin typeface="Tajawal ExtraBold"/>
                <a:ea typeface="Tajawal ExtraBold"/>
              </a:rPr>
              <a:t>التعلم المستمر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منصات مثل Stanford Online و Coursera للتعلم المتخصص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التغلب على تحديات الابتكار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الحلول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تشجيع التجربة: خلق بيئة آمنة لتجربة اشياء جديدة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تعزيز ثقافة الانفتاح: تشجيع التواصل المفتوح للتعلم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الاحتفاء بالتعلم من الفشل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التحديات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مقاومة التغيير امر شائع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الخوف من الفشل يمكن ان يعيق الابداع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32000" y="1800000"/>
            <a:ext cx="28800" cy="3600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2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اي من التالية يعتبر من سمات العقلية الريادية؟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266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80000" y="27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270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الخوف من المخاطرة وتجنب التجارب الجديدة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338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80000" y="34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42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رؤية الفشل كفرصة للتعلم والتحسين المستمر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" y="410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80000" y="414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414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رفض التغذية الراجعة من الآخرين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4824000"/>
            <a:ext cx="10080000" cy="61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80000" y="486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486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التمسك بالخطة الاصلية دون اي تعديل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0000" y="5760000"/>
            <a:ext cx="2880000" cy="503999"/>
          </a:xfrm>
          <a:prstGeom prst="roundRect">
            <a:avLst/>
          </a:prstGeom>
          <a:solidFill>
            <a:srgbClr val="156082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0" y="6300000"/>
            <a:ext cx="7200000" cy="36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400" b="0" lang="ar-JO">
                <a:solidFill>
                  <a:srgbClr val="999999"/>
                </a:solidFill>
                <a:cs typeface="Tajawal"/>
                <a:latin typeface="Tajawal"/>
                <a:ea typeface="Tajawal"/>
              </a:rPr>
              <a:t>Storyline: عند النقر على 'تحقق' تظهر التغذية الراجعة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ملخّص الوحدة الدراسيّة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20000"/>
            <a:ext cx="1044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1" lang="ar-JO">
                <a:solidFill>
                  <a:srgbClr val="2E6CEC"/>
                </a:solidFill>
                <a:cs typeface="Tajawal ExtraBold"/>
                <a:latin typeface="Tajawal ExtraBold"/>
                <a:ea typeface="Tajawal ExtraBold"/>
              </a:rPr>
              <a:t>الابتكار: </a:t>
            </a:r>
            <a:r>
              <a:rPr sz="2000" b="0" lang="ar-JO">
                <a:solidFill>
                  <a:srgbClr val="2E6CEC"/>
                </a:solidFill>
                <a:cs typeface="Tajawal"/>
                <a:latin typeface="Tajawal"/>
                <a:ea typeface="Tajawal"/>
              </a:rPr>
              <a:t>ايجاد حلول جديدة باستخدام تقنيات ابداعية مثل SCAMPER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1" lang="ar-JO">
                <a:solidFill>
                  <a:srgbClr val="2E6CEC"/>
                </a:solidFill>
                <a:cs typeface="Tajawal ExtraBold"/>
                <a:latin typeface="Tajawal ExtraBold"/>
                <a:ea typeface="Tajawal ExtraBold"/>
              </a:rPr>
              <a:t>ريادة الاعمال: </a:t>
            </a:r>
            <a:r>
              <a:rPr sz="2000" b="0" lang="ar-JO">
                <a:solidFill>
                  <a:srgbClr val="2E6CEC"/>
                </a:solidFill>
                <a:cs typeface="Tajawal"/>
                <a:latin typeface="Tajawal"/>
                <a:ea typeface="Tajawal"/>
              </a:rPr>
              <a:t>تحويل الافكار لمشاريع ناجحة تتطلب حل المشكلات والمرونة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1" lang="ar-JO">
                <a:solidFill>
                  <a:srgbClr val="2E6CEC"/>
                </a:solidFill>
                <a:cs typeface="Tajawal ExtraBold"/>
                <a:latin typeface="Tajawal ExtraBold"/>
                <a:ea typeface="Tajawal ExtraBold"/>
              </a:rPr>
              <a:t>التفكير التصميمي: </a:t>
            </a:r>
            <a:r>
              <a:rPr sz="2000" b="0" lang="ar-JO">
                <a:solidFill>
                  <a:srgbClr val="2E6CEC"/>
                </a:solidFill>
                <a:cs typeface="Tajawal"/>
                <a:latin typeface="Tajawal"/>
                <a:ea typeface="Tajawal"/>
              </a:rPr>
              <a:t>5 مراحل: التعاطف، التحديد، التفكير، النمذجة، الاختبار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1" lang="ar-JO">
                <a:solidFill>
                  <a:srgbClr val="2E6CEC"/>
                </a:solidFill>
                <a:cs typeface="Tajawal ExtraBold"/>
                <a:latin typeface="Tajawal ExtraBold"/>
                <a:ea typeface="Tajawal ExtraBold"/>
              </a:rPr>
              <a:t>ملاءمة السوق: </a:t>
            </a:r>
            <a:r>
              <a:rPr sz="2000" b="0" lang="ar-JO">
                <a:solidFill>
                  <a:srgbClr val="2E6CEC"/>
                </a:solidFill>
                <a:cs typeface="Tajawal"/>
                <a:latin typeface="Tajawal"/>
                <a:ea typeface="Tajawal"/>
              </a:rPr>
              <a:t>التكنولوجيا + احتياجات السوق + النمذجة + اختبار A/B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1" lang="ar-JO">
                <a:solidFill>
                  <a:srgbClr val="2E6CEC"/>
                </a:solidFill>
                <a:cs typeface="Tajawal ExtraBold"/>
                <a:latin typeface="Tajawal ExtraBold"/>
                <a:ea typeface="Tajawal ExtraBold"/>
              </a:rPr>
              <a:t>العقلية الريادية: </a:t>
            </a:r>
            <a:r>
              <a:rPr sz="2000" b="0" lang="ar-JO">
                <a:solidFill>
                  <a:srgbClr val="2E6CEC"/>
                </a:solidFill>
                <a:cs typeface="Tajawal"/>
                <a:latin typeface="Tajawal"/>
                <a:ea typeface="Tajawal"/>
              </a:rPr>
              <a:t>الفشل فرصة، التغذية الراجعة ضرورية، التعلم مستمر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0" y="3600000"/>
            <a:ext cx="7920000" cy="18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اكمال الانشطة التفاعلية المرتبطة بالوحدة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المشاركة في نشاط النقاش حول العقلية الرقمية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تطبيق التفكير التصميمي في حل مشكلة رقمية (الواجب)</a:t>
            </a:r>
          </a:p>
          <a:p>
            <a:pPr algn="r" rtl="1">
              <a:spcAft>
                <a:spcPts val="1200"/>
              </a:spcAft>
            </a:pPr>
            <a:r>
              <a:rPr sz="18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•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الاستعداد للاختبار البعدي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